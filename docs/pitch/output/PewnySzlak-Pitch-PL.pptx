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ceeef45105a4995" /><Relationship Type="http://schemas.openxmlformats.org/officeDocument/2006/relationships/extended-properties" Target="/docProps/app.xml" Id="Rc1efd9e28efa4ae3" /><Relationship Type="http://schemas.openxmlformats.org/officeDocument/2006/relationships/officeDocument" Target="/ppt/presentation.xml" Id="R2390c462c48449a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b4ad3fa80124e95"/>
  </p:sldMasterIdLst>
  <p:notesMasterIdLst>
    <p:notesMasterId xmlns:r="http://schemas.openxmlformats.org/officeDocument/2006/relationships" r:id="Re518c4aa4daf4751"/>
  </p:notesMasterIdLst>
  <p:sldIdLst>
    <p:sldId xmlns:r="http://schemas.openxmlformats.org/officeDocument/2006/relationships" id="256" r:id="Reca8c6d3fa0240a5"/>
    <p:sldId xmlns:r="http://schemas.openxmlformats.org/officeDocument/2006/relationships" id="257" r:id="Rb8985b0cebf54a65"/>
    <p:sldId xmlns:r="http://schemas.openxmlformats.org/officeDocument/2006/relationships" id="258" r:id="R79c48383b7354a62"/>
    <p:sldId xmlns:r="http://schemas.openxmlformats.org/officeDocument/2006/relationships" id="259" r:id="Ra625b466bdf14816"/>
    <p:sldId xmlns:r="http://schemas.openxmlformats.org/officeDocument/2006/relationships" id="260" r:id="R98a3255e11654fd1"/>
    <p:sldId xmlns:r="http://schemas.openxmlformats.org/officeDocument/2006/relationships" id="261" r:id="R4584c1f3f3dc4497"/>
    <p:sldId xmlns:r="http://schemas.openxmlformats.org/officeDocument/2006/relationships" id="262" r:id="R81982e66084e40f6"/>
    <p:sldId xmlns:r="http://schemas.openxmlformats.org/officeDocument/2006/relationships" id="263" r:id="R73735a3abef94bbc"/>
    <p:sldId xmlns:r="http://schemas.openxmlformats.org/officeDocument/2006/relationships" id="264" r:id="R72337ae8bd554532"/>
    <p:sldId xmlns:r="http://schemas.openxmlformats.org/officeDocument/2006/relationships" id="265" r:id="R8a8bb1bb4a7f494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49bd960623d41ca" /><Relationship Type="http://schemas.openxmlformats.org/officeDocument/2006/relationships/slideMaster" Target="/ppt/slideMasters/slideMaster1.xml" Id="R2b4ad3fa80124e95" /><Relationship Type="http://schemas.openxmlformats.org/officeDocument/2006/relationships/notesMaster" Target="/ppt/notesMasters/notesMaster1.xml" Id="Re518c4aa4daf4751" /><Relationship Type="http://schemas.openxmlformats.org/officeDocument/2006/relationships/presProps" Target="/ppt/presProps.xml" Id="R606e860886544121" /><Relationship Type="http://schemas.openxmlformats.org/officeDocument/2006/relationships/tableStyles" Target="/ppt/tableStyles.xml" Id="R5a364622eb48410d" /><Relationship Type="http://schemas.openxmlformats.org/officeDocument/2006/relationships/slide" Target="/ppt/slides/slide1.xml" Id="Reca8c6d3fa0240a5" /><Relationship Type="http://schemas.openxmlformats.org/officeDocument/2006/relationships/slide" Target="/ppt/slides/slide2.xml" Id="Rb8985b0cebf54a65" /><Relationship Type="http://schemas.openxmlformats.org/officeDocument/2006/relationships/slide" Target="/ppt/slides/slide3.xml" Id="R79c48383b7354a62" /><Relationship Type="http://schemas.openxmlformats.org/officeDocument/2006/relationships/slide" Target="/ppt/slides/slide4.xml" Id="Ra625b466bdf14816" /><Relationship Type="http://schemas.openxmlformats.org/officeDocument/2006/relationships/slide" Target="/ppt/slides/slide5.xml" Id="R98a3255e11654fd1" /><Relationship Type="http://schemas.openxmlformats.org/officeDocument/2006/relationships/slide" Target="/ppt/slides/slide6.xml" Id="R4584c1f3f3dc4497" /><Relationship Type="http://schemas.openxmlformats.org/officeDocument/2006/relationships/slide" Target="/ppt/slides/slide7.xml" Id="R81982e66084e40f6" /><Relationship Type="http://schemas.openxmlformats.org/officeDocument/2006/relationships/slide" Target="/ppt/slides/slide8.xml" Id="R73735a3abef94bbc" /><Relationship Type="http://schemas.openxmlformats.org/officeDocument/2006/relationships/slide" Target="/ppt/slides/slide9.xml" Id="R72337ae8bd554532" /><Relationship Type="http://schemas.openxmlformats.org/officeDocument/2006/relationships/slide" Target="/ppt/slides/slide10.xml" Id="R8a8bb1bb4a7f494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e8bb4a6116147d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1a9f3de1feb46f4" /><Relationship Type="http://schemas.openxmlformats.org/officeDocument/2006/relationships/notesMaster" Target="/ppt/notesMasters/notesMaster1.xml" Id="R3a5e3704b6c54ba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ae87b51788046ef" /><Relationship Type="http://schemas.openxmlformats.org/officeDocument/2006/relationships/notesMaster" Target="/ppt/notesMasters/notesMaster1.xml" Id="R14c974dd849a422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12de6c9ba5e46cd" /><Relationship Type="http://schemas.openxmlformats.org/officeDocument/2006/relationships/notesMaster" Target="/ppt/notesMasters/notesMaster1.xml" Id="R6e7c03ecdc944dc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951f37b3f5e4554" /><Relationship Type="http://schemas.openxmlformats.org/officeDocument/2006/relationships/notesMaster" Target="/ppt/notesMasters/notesMaster1.xml" Id="R03008e6f9cc5442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7046f54a1604c57" /><Relationship Type="http://schemas.openxmlformats.org/officeDocument/2006/relationships/notesMaster" Target="/ppt/notesMasters/notesMaster1.xml" Id="Rdb4708bca9e9434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d5e579ad5584646" /><Relationship Type="http://schemas.openxmlformats.org/officeDocument/2006/relationships/notesMaster" Target="/ppt/notesMasters/notesMaster1.xml" Id="R0ecaf57546b741c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c38476539cc4245" /><Relationship Type="http://schemas.openxmlformats.org/officeDocument/2006/relationships/notesMaster" Target="/ppt/notesMasters/notesMaster1.xml" Id="R677af4602b934bb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4097174c3ae4ba4" /><Relationship Type="http://schemas.openxmlformats.org/officeDocument/2006/relationships/notesMaster" Target="/ppt/notesMasters/notesMaster1.xml" Id="R248fe68b100a4b6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c5dcde23eac426d" /><Relationship Type="http://schemas.openxmlformats.org/officeDocument/2006/relationships/notesMaster" Target="/ppt/notesMasters/notesMaster1.xml" Id="R347de740b5b6416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89a238db529402c" /><Relationship Type="http://schemas.openxmlformats.org/officeDocument/2006/relationships/notesMaster" Target="/ppt/notesMasters/notesMaster1.xml" Id="R77d94d55c30245a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Wyobraźcie sobie zwiedzanie Krakowa, podczas którego dopiero pod schodami dowiadujecie się, że trasa nie jest dla was. PewnySzlak pomaga ocenić dojście przed wyjściem. W demonstracji konkursowej skupiamy się na osobie poruszającej się na wózku.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Źródła i status:</a:t>
            </a:r>
          </a:p>
          <a:p xmlns:a="http://schemas.openxmlformats.org/drawingml/2006/main">
            <a:r>
              <a:t>prd.md; krakow.pdf. Screen z aktualnej aplikacji, nie z filmu reklamowego.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Problemem nie jest tylko znalezienie celu. Trzeba ocenić całą drogę i konkretne przeszkody. Binarny status dostępności nie odpowiada na pytanie, czy przejedzie konkretny użytkownik z konkretnym sprzętem.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Źródła i status:</a:t>
            </a:r>
          </a:p>
          <a:p xmlns:a="http://schemas.openxmlformats.org/drawingml/2006/main">
            <a:r>
              <a:t>krakow.pdf, sekcje 1–3. To opis problemu z wyzwania, a nie badanie konkurencyjnych aplikacji.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Wybieramy profil wózka, a następnie własne limity nachylenia, krawężnika i szerokości. Znane przekroczenia eliminują odcinek z routingu. Dla brakujących danych użytkownik wybiera ostrzeżenie albo wykluczenie. Nie zbieramy diagnoz ani historii GPS.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Źródła i status:</a:t>
            </a:r>
          </a:p>
          <a:p xmlns:a="http://schemas.openxmlformats.org/drawingml/2006/main">
            <a:r>
              <a:t>packages/domain/src/index.ts; apps/api/src/graph/cost.ts; apps/mobile/app/index.tsx. Liczby to edytowalny przykład preferencji, a nie uniwersalna norma dostępności.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Najpierw pokażemy rzeczywistą trasę na grafie Krakowa, a następnie wariant demonstracyjny z blokadą Grodzkiej. Użytkownik może obejrzeć przebieg na mapie, przejrzeć etapy i przełączyć się na pełny opis tekstowy. Przykładowe utrudnienie pochodzi z oddzielnego zestawu demo.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Źródła i status:</a:t>
            </a:r>
          </a:p>
          <a:p xmlns:a="http://schemas.openxmlformats.org/drawingml/2006/main">
            <a:r>
              <a:t>apps/mobile/app/route/index.tsx; apps/mobile/app/route/text.tsx; apps/api/src/demo/seed.ts. Screeny pokazują bieżącą aplikację. Blokada Grodzkiej jest symulowana i działa tylko w trybie demo.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Scenariusz konkursowy to osoba na wózku. Ten sam model preferencji może wspierać kolejne potrzeby. Asystent potrafi zaproponować placówkę albo miejsce na przerwę, a trasę liczy backend. Lokale burgerowe widoczne na screenie to propozycje demonstracyjne, a nie sprawdzenie ich dostępności.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Źródła i status:</a:t>
            </a:r>
          </a:p>
          <a:p xmlns:a="http://schemas.openxmlformats.org/drawingml/2006/main">
            <a:r>
              <a:t>prd.md, grupy docelowe; apps/api/src/graph/explore.ts; apps/api/src/assistant/service.ts; apps/api/src/assistant/tools.ts. Scenariusz rodzica i bagażu to zastosowanie obecnych ustawień, nie osobne dedykowane profile.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Warstwa nazwana SAR-1 pokazuje, jak chcemy kierować uwagę na miejsca, w których zaszła zmiana. Sam sygnał radarowy nie jest barierą ani pomiarem chodnika. Zespół musi dopasować go do lokalizacji, zweryfikować i dopiero wtedy nadać status. W repozytorium nie znaleziono klienta SAR-1, dlatego slajd opisuje demonstrację koncepcji, nie wdrożoną integrację.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Źródła i status:</a:t>
            </a:r>
          </a:p>
          <a:p xmlns:a="http://schemas.openxmlformats.org/drawingml/2006/main">
            <a:r>
              <a:t>Nazwa SAR-1 zgodnie z prośbą użytkownika. Dostawca / misja niepotwierdzone. Ogólna możliwość detekcji zmian SAR: https://algorithm-catalogue.apex.esa.int/apps/sentinel1_changedetection . Nie utożsamiamy SAR-1 z Sentinel-1 bez potwierdzenia zespołu.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 mock pokazujący wartość dokładniejszych danych wysokościowych. Na odcinku 30 metrów wznios 3 metry daje 10%, a 1,2 metra daje 4%. Przy limicie 6% drugi wariant lepiej odpowiada preferencji. W kodzie mamy klienta NMT, który opisuje powierzchnię gruntu. Nie zrealizowaliśmy pomiaru surowej chmury LiDAR ani walidacji podjazdów. NMT nie rozstrzyga o schodach, mostach, krawężnikach czy windach i nie zmienia routingu.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Źródła i status:</a:t>
            </a:r>
          </a:p>
          <a:p xmlns:a="http://schemas.openxmlformats.org/drawingml/2006/main">
            <a:r>
              <a:t>Wszystkie wartości wykresu są syntetyczne. Obliczenie: wznios / długość pozioma × 100%. apps/api/src/terrain/nmt.ts. Źródła technologii: https://www.geoportal.gov.pl/pl/dane/dane-pomiarowe-lidar-lidar/ ; https://www.geoportal.gov.pl/pl/dane/numeryczny-model-terenu-nmt/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Warstwy są rozdzielone: synchronizacja danych, graf i silnik tras, API oraz interfejs. OSM daje topologię, MCP z-dykty daje sygnały z przetargów, NFZ dane placówek, a społeczność aktualizuje bariery. Przetarg nie oznacza trwającego remontu. Sprzeczne i stare obserwacje pozostają widoczne. System nie potrzebuje wewnętrznych systemów miasta.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Źródła i status:</a:t>
            </a:r>
          </a:p>
          <a:p xmlns:a="http://schemas.openxmlformats.org/drawingml/2006/main">
            <a:r>
              <a:t>apps/api/src/sync; apps/api/src/graph; apps/api/src/sources/status.ts; docs/licencje-danych.md. MCP: https://z-dykty.pl/dla-programistow . NFZ: https://apinfz.nfz.gov.pl/app-itl-api-pcus/index.html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Użytkownik powinien mieć bezpłatny dostęp do podstawowych informacji. Hipoteza biznesowa to narzędzie dla hoteli, organizatorów wydarzeń i dostawców aplikacji: widget dojścia, API i panel aktualizacji. Najpierw sprawdzamy użyteczność w terenie i zainteresowanie partnerów, potem model opłat. Nie deklarujemy podpisanych umów ani przychodów.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Źródła i status:</a:t>
            </a:r>
          </a:p>
          <a:p xmlns:a="http://schemas.openxmlformats.org/drawingml/2006/main">
            <a:r>
              <a:t>Model i plan to propozycja zespołu, nie wyniki pilotażu. krakow.pdf, potencjał wdrożenia i komercjalizacji.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Przechodzimy do aplikacji. Ustawiamy potrzeby osoby na wózku, wybieramy start i cel, pokazujemy etapy trasy oraz źródła. Zakończenie: użytkownik wie, co wynika z danych i czego nadal trzeba się dowiedzieć. Liczba krawędzi opisuje zaimportowany graf, nie liczbę sprawdzonych chodników.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Źródła i status:</a:t>
            </a:r>
          </a:p>
          <a:p xmlns:a="http://schemas.openxmlformats.org/drawingml/2006/main">
            <a:r>
              <a:t>GET /v1/health: version osm-20261003T130058Z, nodes 281817, edges 344284, stan odczytany podczas przygotowania prezentacji. To pokrycie dostępnej sieci OSM, nie gwarancja pełnych danych o dostępności.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5bd0b472da421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0cddb01a1064f0f" /><Relationship Type="http://schemas.openxmlformats.org/officeDocument/2006/relationships/slideLayout" Target="/ppt/slideLayouts/slideLayout1.xml" Id="R870b7834e58c461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70b7834e58c461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33b35aa1614d9f" /><Relationship Type="http://schemas.openxmlformats.org/officeDocument/2006/relationships/image" Target="/ppt/media/image.png" Id="Rb4655b0e41d24ae0" /><Relationship Type="http://schemas.openxmlformats.org/officeDocument/2006/relationships/notesSlide" Target="/ppt/notesSlides/notesSlide1.xml" Id="R16df2c0e732440a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22f430e57c4e81" /><Relationship Type="http://schemas.openxmlformats.org/officeDocument/2006/relationships/notesSlide" Target="/ppt/notesSlides/notesSlide2.xml" Id="Rfcbd8173749346a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4b19b62e4842ee" /><Relationship Type="http://schemas.openxmlformats.org/officeDocument/2006/relationships/image" Target="/ppt/media/image2.png" Id="R451cfe1198c44eb6" /><Relationship Type="http://schemas.openxmlformats.org/officeDocument/2006/relationships/notesSlide" Target="/ppt/notesSlides/notesSlide3.xml" Id="Ra9c4e2276a6d4ec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c4331afe334061" /><Relationship Type="http://schemas.openxmlformats.org/officeDocument/2006/relationships/image" Target="/ppt/media/image3.png" Id="R9ae5a50b4cd6402b" /><Relationship Type="http://schemas.openxmlformats.org/officeDocument/2006/relationships/image" Target="/ppt/media/image4.png" Id="R7e2165266eb841f2" /><Relationship Type="http://schemas.openxmlformats.org/officeDocument/2006/relationships/notesSlide" Target="/ppt/notesSlides/notesSlide4.xml" Id="Rd6d562d542d1449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b83eda9e2f4101" /><Relationship Type="http://schemas.openxmlformats.org/officeDocument/2006/relationships/image" Target="/ppt/media/image5.png" Id="R700ab71c76884476" /><Relationship Type="http://schemas.openxmlformats.org/officeDocument/2006/relationships/notesSlide" Target="/ppt/notesSlides/notesSlide5.xml" Id="Rd27a22640a96432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f70e350f844965" /><Relationship Type="http://schemas.openxmlformats.org/officeDocument/2006/relationships/notesSlide" Target="/ppt/notesSlides/notesSlide6.xml" Id="R69b76445b32e408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106e90124d471a" /><Relationship Type="http://schemas.openxmlformats.org/officeDocument/2006/relationships/chart" Target="/ppt/slides/charts/chart1.xml" Id="R38a27cbe91994654" /><Relationship Type="http://schemas.openxmlformats.org/officeDocument/2006/relationships/notesSlide" Target="/ppt/notesSlides/notesSlide7.xml" Id="Rd5cf0a0ba4644fa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ac2de306454f20" /><Relationship Type="http://schemas.openxmlformats.org/officeDocument/2006/relationships/image" Target="/ppt/media/image6.png" Id="Rd59e61ee2c844537" /><Relationship Type="http://schemas.openxmlformats.org/officeDocument/2006/relationships/notesSlide" Target="/ppt/notesSlides/notesSlide8.xml" Id="R189c1f32e4ea43a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540d38333e4157" /><Relationship Type="http://schemas.openxmlformats.org/officeDocument/2006/relationships/notesSlide" Target="/ppt/notesSlides/notesSlide9.xml" Id="R3977a84d35da4e6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fde0129dbe4a0c" /><Relationship Type="http://schemas.openxmlformats.org/officeDocument/2006/relationships/image" Target="/ppt/media/image7.png" Id="R430316e9cfc8481b" /><Relationship Type="http://schemas.openxmlformats.org/officeDocument/2006/relationships/notesSlide" Target="/ppt/notesSlides/notesSlide10.xml" Id="Rf045eb714151499b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ser>
          <c:idx val="0"/>
          <c:order val="0"/>
          <c:tx>
            <c:v>Odcinek stromy</c:v>
          </c:tx>
          <c:spPr>
            <a:ln xmlns:a="http://schemas.openxmlformats.org/drawingml/2006/main" w="38100">
              <a:solidFill>
                <a:srgbClr val="CA5D48"/>
              </a:solidFill>
            </a:ln>
          </c:spPr>
          <c:marker>
            <c:symbol val="none"/>
          </c:marker>
          <c:cat>
            <c:numRef>
              <c:f>'Chart Data'!$A$2:$A$8</c:f>
              <c:numCache>
                <c:formatCode>General</c:formatCode>
                <c:ptCount val="7"/>
                <c:pt idx="0">
                  <c:v>0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  <c:pt idx="5">
                  <c:v>25</c:v>
                </c:pt>
                <c:pt idx="6">
                  <c:v>30</c:v>
                </c:pt>
              </c:numCache>
            </c:numRef>
          </c:cat>
          <c:val>
            <c:numRef>
              <c:f>'Chart Data'!$B$2:$B$8</c:f>
              <c:numCache>
                <c:formatCode>0.0</c:formatCode>
                <c:ptCount val="7"/>
                <c:pt idx="0">
                  <c:v>200</c:v>
                </c:pt>
                <c:pt idx="1">
                  <c:v>200.5</c:v>
                </c:pt>
                <c:pt idx="2">
                  <c:v>201</c:v>
                </c:pt>
                <c:pt idx="3">
                  <c:v>201.5</c:v>
                </c:pt>
                <c:pt idx="4">
                  <c:v>202</c:v>
                </c:pt>
                <c:pt idx="5">
                  <c:v>202.5</c:v>
                </c:pt>
                <c:pt idx="6">
                  <c:v>203</c:v>
                </c:pt>
              </c:numCache>
            </c:numRef>
          </c:val>
        </c:ser>
        <c:ser>
          <c:idx val="1"/>
          <c:order val="1"/>
          <c:tx>
            <c:v>Wariant łagodniejszy</c:v>
          </c:tx>
          <c:spPr>
            <a:ln xmlns:a="http://schemas.openxmlformats.org/drawingml/2006/main" w="38100">
              <a:solidFill>
                <a:srgbClr val="315A43"/>
              </a:solidFill>
            </a:ln>
          </c:spPr>
          <c:marker>
            <c:symbol val="none"/>
          </c:marker>
          <c:cat>
            <c:numRef>
              <c:f>'Chart Data'!$C$2:$C$8</c:f>
              <c:numCache>
                <c:formatCode>General</c:formatCode>
                <c:ptCount val="7"/>
                <c:pt idx="0">
                  <c:v>0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  <c:pt idx="5">
                  <c:v>25</c:v>
                </c:pt>
                <c:pt idx="6">
                  <c:v>30</c:v>
                </c:pt>
              </c:numCache>
            </c:numRef>
          </c:cat>
          <c:val>
            <c:numRef>
              <c:f>'Chart Data'!$D$2:$D$8</c:f>
              <c:numCache>
                <c:formatCode>0.0</c:formatCode>
                <c:ptCount val="7"/>
                <c:pt idx="0">
                  <c:v>200</c:v>
                </c:pt>
                <c:pt idx="1">
                  <c:v>200.2</c:v>
                </c:pt>
                <c:pt idx="2">
                  <c:v>200.4</c:v>
                </c:pt>
                <c:pt idx="3">
                  <c:v>200.6</c:v>
                </c:pt>
                <c:pt idx="4">
                  <c:v>200.8</c:v>
                </c:pt>
                <c:pt idx="5">
                  <c:v>201</c:v>
                </c:pt>
                <c:pt idx="6">
                  <c:v>201.2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ato"/>
                  <a:ea typeface="Lato"/>
                  <a:cs typeface="Lato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66766A"/>
                    </a:solidFill>
                    <a:latin typeface="Lato"/>
                    <a:ea typeface="Lato"/>
                    <a:cs typeface="Lato"/>
                  </a:rPr>
                  <a:t>Długość odcinka [m]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66766A"/>
                  </a:solidFill>
                  <a:latin typeface="Lato"/>
                  <a:ea typeface="Lato"/>
                  <a:cs typeface="Lato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9D4C5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766A"/>
                </a:solidFill>
                <a:latin typeface="Lato"/>
                <a:ea typeface="Lato"/>
                <a:cs typeface="Lato"/>
              </a:defRPr>
            </a:pPr>
          </a:p>
        </c:txPr>
        <c:crossAx val="48672768"/>
      </c:catAx>
      <c:valAx>
        <c:axId val="48672768"/>
        <c:scaling>
          <c:orientation val="minMax"/>
          <c:max val="203"/>
          <c:min val="2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EE3D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66766A"/>
                    </a:solidFill>
                    <a:latin typeface="Lato"/>
                    <a:ea typeface="Lato"/>
                    <a:cs typeface="Lato"/>
                  </a:rPr>
                  <a:t>Wysokość [m]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66766A"/>
                  </a:solidFill>
                  <a:latin typeface="Lato"/>
                  <a:ea typeface="Lato"/>
                  <a:cs typeface="Lato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766A"/>
                </a:solidFill>
                <a:latin typeface="Lato"/>
                <a:ea typeface="Lato"/>
                <a:cs typeface="Lato"/>
              </a:defRPr>
            </a:pPr>
          </a:p>
        </c:txPr>
        <c:crossAx val="48650112"/>
        <c:crossBetween val="between"/>
        <c:majorUnit val="1"/>
      </c:valAx>
      <c:spPr>
        <a:solidFill xmlns:a="http://schemas.openxmlformats.org/drawingml/2006/main">
          <a:srgbClr val="F6F5EE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66766A"/>
              </a:solidFill>
              <a:latin typeface="Lato"/>
              <a:ea typeface="Lato"/>
              <a:cs typeface="Lato"/>
            </a:defRPr>
          </a:pPr>
        </a:p>
      </c:txPr>
    </c:legend>
    <c:plotVisOnly val="1"/>
  </c:chart>
  <c:spPr>
    <a:solidFill xmlns:a="http://schemas.openxmlformats.org/drawingml/2006/main">
      <a:srgbClr val="F6F5EE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82B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pewnyszlak.">
            <a:extLst xmlns:a="http://schemas.openxmlformats.org/drawingml/2006/main">
              <a:ext uri="{FF2B5EF4-FFF2-40B4-BE49-F238E27FC236}">
                <a16:creationId xmlns:a16="http://schemas.microsoft.com/office/drawing/2014/main" id="{8379641F-8906-4D27-8E1D-A15583599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D1F28E"/>
                </a:solidFill>
                <a:latin typeface="Lato"/>
                <a:ea typeface="Lato"/>
                <a:cs typeface="Lato"/>
              </a:defRPr>
            </a:pPr>
            <a:r>
              <a:rPr sz="1875" b="1">
                <a:solidFill>
                  <a:srgbClr val="D1F28E"/>
                </a:solidFill>
                <a:latin typeface="Lato"/>
                <a:ea typeface="Lato"/>
                <a:cs typeface="Lato"/>
              </a:rPr>
              <a:t>pewnyszlak.</a:t>
            </a:r>
          </a:p>
        </p:txBody>
      </p:sp>
      <p:sp>
        <p:nvSpPr>
          <p:cNvPr id="2" name="HACKYEAH 2026 · KRAKÓW BEZ BARIER">
            <a:extLst xmlns:a="http://schemas.openxmlformats.org/drawingml/2006/main">
              <a:ext uri="{FF2B5EF4-FFF2-40B4-BE49-F238E27FC236}">
                <a16:creationId xmlns:a16="http://schemas.microsoft.com/office/drawing/2014/main" id="{0A51A4B6-FF2B-473E-AEDD-EC15200CF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1075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6C5B4"/>
                </a:solidFill>
                <a:latin typeface="Lato"/>
                <a:ea typeface="Lato"/>
                <a:cs typeface="Lato"/>
              </a:defRPr>
            </a:pPr>
            <a:r>
              <a:rPr sz="1200" b="1">
                <a:solidFill>
                  <a:srgbClr val="B6C5B4"/>
                </a:solidFill>
                <a:latin typeface="Lato"/>
                <a:ea typeface="Lato"/>
                <a:cs typeface="Lato"/>
              </a:rPr>
              <a:t>HACKYEAH 2026 · KRAKÓW BEZ BARIER</a:t>
            </a:r>
          </a:p>
        </p:txBody>
      </p:sp>
      <p:sp>
        <p:nvSpPr>
          <p:cNvPr id="3" name="01 / 10">
            <a:extLst xmlns:a="http://schemas.openxmlformats.org/drawingml/2006/main">
              <a:ext uri="{FF2B5EF4-FFF2-40B4-BE49-F238E27FC236}">
                <a16:creationId xmlns:a16="http://schemas.microsoft.com/office/drawing/2014/main" id="{708333C7-0D9D-408A-80AE-28FBCA503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6457950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B6C5B4"/>
                </a:solidFill>
                <a:latin typeface="Lato"/>
                <a:ea typeface="Lato"/>
                <a:cs typeface="Lato"/>
              </a:defRPr>
            </a:pPr>
            <a:r>
              <a:rPr sz="975" b="0">
                <a:solidFill>
                  <a:srgbClr val="B6C5B4"/>
                </a:solidFill>
                <a:latin typeface="Lato"/>
                <a:ea typeface="Lato"/>
                <a:cs typeface="Lato"/>
              </a:rPr>
              <a:t>01 / 10</a:t>
            </a:r>
          </a:p>
        </p:txBody>
      </p:sp>
      <p:sp>
        <p:nvSpPr>
          <p:cNvPr id="4" name="Kraków&#10;w Twoim tempie">
            <a:extLst xmlns:a="http://schemas.openxmlformats.org/drawingml/2006/main">
              <a:ext uri="{FF2B5EF4-FFF2-40B4-BE49-F238E27FC236}">
                <a16:creationId xmlns:a16="http://schemas.microsoft.com/office/drawing/2014/main" id="{9217043B-010D-4A1B-93B2-E0EF7A863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6953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925" b="1">
                <a:solidFill>
                  <a:srgbClr val="F6F5EE"/>
                </a:solidFill>
                <a:latin typeface="Lato"/>
                <a:ea typeface="Lato"/>
                <a:cs typeface="Lato"/>
              </a:defRPr>
            </a:pPr>
            <a:r>
              <a:rPr sz="5925" b="1">
                <a:solidFill>
                  <a:srgbClr val="F6F5EE"/>
                </a:solidFill>
                <a:latin typeface="Lato"/>
                <a:ea typeface="Lato"/>
                <a:cs typeface="Lato"/>
              </a:rPr>
              <a:t>Kraków</a:t>
            </a:r>
          </a:p>
          <a:p xmlns:a="http://schemas.openxmlformats.org/drawingml/2006/main">
            <a:pPr>
              <a:defRPr sz="5925" b="1">
                <a:solidFill>
                  <a:srgbClr val="F6F5EE"/>
                </a:solidFill>
                <a:latin typeface="Lato"/>
                <a:ea typeface="Lato"/>
                <a:cs typeface="Lato"/>
              </a:defRPr>
            </a:pPr>
            <a:r>
              <a:rPr sz="5925" b="1">
                <a:solidFill>
                  <a:srgbClr val="F6F5EE"/>
                </a:solidFill>
                <a:latin typeface="Lato"/>
                <a:ea typeface="Lato"/>
                <a:cs typeface="Lato"/>
              </a:rPr>
              <a:t>w Twoim tempie</a:t>
            </a:r>
          </a:p>
        </p:txBody>
      </p:sp>
      <p:sp>
        <p:nvSpPr>
          <p:cNvPr id="5" name="Trasy według Twoich potrzeb.&#10;Informacje o barierach przed wy">
            <a:extLst xmlns:a="http://schemas.openxmlformats.org/drawingml/2006/main">
              <a:ext uri="{FF2B5EF4-FFF2-40B4-BE49-F238E27FC236}">
                <a16:creationId xmlns:a16="http://schemas.microsoft.com/office/drawing/2014/main" id="{1644E826-37A1-446D-986F-954C6F191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543425"/>
            <a:ext cx="67151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B6C5B4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B6C5B4"/>
                </a:solidFill>
                <a:latin typeface="Lato"/>
                <a:ea typeface="Lato"/>
                <a:cs typeface="Lato"/>
              </a:rPr>
              <a:t>Trasy według Twoich potrzeb.</a:t>
            </a:r>
          </a:p>
          <a:p xmlns:a="http://schemas.openxmlformats.org/drawingml/2006/main">
            <a:pPr>
              <a:defRPr sz="2175" b="0">
                <a:solidFill>
                  <a:srgbClr val="B6C5B4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B6C5B4"/>
                </a:solidFill>
                <a:latin typeface="Lato"/>
                <a:ea typeface="Lato"/>
                <a:cs typeface="Lato"/>
              </a:rPr>
              <a:t>Informacje o barierach przed wyjściem.</a:t>
            </a:r>
          </a:p>
        </p:txBody>
      </p:sp>
      <p:sp>
        <p:nvSpPr>
          <p:cNvPr id="6" name="Aplikacja mobilna i webowa">
            <a:extLst xmlns:a="http://schemas.openxmlformats.org/drawingml/2006/main">
              <a:ext uri="{FF2B5EF4-FFF2-40B4-BE49-F238E27FC236}">
                <a16:creationId xmlns:a16="http://schemas.microsoft.com/office/drawing/2014/main" id="{ECD9EC1F-07C4-426D-A7AC-DFBC17C40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734050"/>
            <a:ext cx="6381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D1F28E"/>
                </a:solidFill>
                <a:latin typeface="Lato"/>
                <a:ea typeface="Lato"/>
                <a:cs typeface="Lato"/>
              </a:defRPr>
            </a:pPr>
            <a:r>
              <a:rPr sz="1575" b="0">
                <a:solidFill>
                  <a:srgbClr val="D1F28E"/>
                </a:solidFill>
                <a:latin typeface="Lato"/>
                <a:ea typeface="Lato"/>
                <a:cs typeface="Lato"/>
              </a:rPr>
              <a:t>Aplikacja mobilna i webowa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655b0e41d24ae0"/>
          <a:stretch xmlns:a="http://schemas.openxmlformats.org/drawingml/2006/main"/>
        </p:blipFill>
        <p:spPr>
          <a:xfrm xmlns:a="http://schemas.openxmlformats.org/drawingml/2006/main">
            <a:off x="8249110" y="866775"/>
            <a:ext cx="2570830" cy="5572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5067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ewnyszlak.">
            <a:extLst xmlns:a="http://schemas.openxmlformats.org/drawingml/2006/main">
              <a:ext uri="{FF2B5EF4-FFF2-40B4-BE49-F238E27FC236}">
                <a16:creationId xmlns:a16="http://schemas.microsoft.com/office/drawing/2014/main" id="{623A9E50-F15F-4592-A7CB-188102CF9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315A43"/>
                </a:solidFill>
                <a:latin typeface="Lato"/>
                <a:ea typeface="Lato"/>
                <a:cs typeface="Lato"/>
              </a:defRPr>
            </a:pPr>
            <a:r>
              <a:rPr sz="1875" b="1">
                <a:solidFill>
                  <a:srgbClr val="315A43"/>
                </a:solidFill>
                <a:latin typeface="Lato"/>
                <a:ea typeface="Lato"/>
                <a:cs typeface="Lato"/>
              </a:rPr>
              <a:t>pewnyszlak.</a:t>
            </a:r>
          </a:p>
        </p:txBody>
      </p:sp>
      <p:sp>
        <p:nvSpPr>
          <p:cNvPr id="2" name="PROBLEM">
            <a:extLst xmlns:a="http://schemas.openxmlformats.org/drawingml/2006/main">
              <a:ext uri="{FF2B5EF4-FFF2-40B4-BE49-F238E27FC236}">
                <a16:creationId xmlns:a16="http://schemas.microsoft.com/office/drawing/2014/main" id="{D53CAB3C-DA21-47E2-AED1-C651B1B6C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1075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6766A"/>
                </a:solidFill>
                <a:latin typeface="Lato"/>
                <a:ea typeface="Lato"/>
                <a:cs typeface="Lato"/>
              </a:defRPr>
            </a:pPr>
            <a:r>
              <a:rPr sz="1200" b="1">
                <a:solidFill>
                  <a:srgbClr val="66766A"/>
                </a:solidFill>
                <a:latin typeface="Lato"/>
                <a:ea typeface="Lato"/>
                <a:cs typeface="Lato"/>
              </a:rPr>
              <a:t>PROBLEM</a:t>
            </a:r>
          </a:p>
        </p:txBody>
      </p:sp>
      <p:sp>
        <p:nvSpPr>
          <p:cNvPr id="3" name="02 / 10">
            <a:extLst xmlns:a="http://schemas.openxmlformats.org/drawingml/2006/main">
              <a:ext uri="{FF2B5EF4-FFF2-40B4-BE49-F238E27FC236}">
                <a16:creationId xmlns:a16="http://schemas.microsoft.com/office/drawing/2014/main" id="{E2FFE31B-0E33-4895-B5BC-DBA95650F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6457950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6766A"/>
                </a:solidFill>
                <a:latin typeface="Lato"/>
                <a:ea typeface="Lato"/>
                <a:cs typeface="Lato"/>
              </a:defRPr>
            </a:pPr>
            <a:r>
              <a:rPr sz="975" b="0">
                <a:solidFill>
                  <a:srgbClr val="66766A"/>
                </a:solidFill>
                <a:latin typeface="Lato"/>
                <a:ea typeface="Lato"/>
                <a:cs typeface="Lato"/>
              </a:rPr>
              <a:t>02 / 10</a:t>
            </a:r>
          </a:p>
        </p:txBody>
      </p:sp>
      <p:sp>
        <p:nvSpPr>
          <p:cNvPr id="4" name="Cel jest blisko.&#10;Dojście kończy się schodami.">
            <a:extLst xmlns:a="http://schemas.openxmlformats.org/drawingml/2006/main">
              <a:ext uri="{FF2B5EF4-FFF2-40B4-BE49-F238E27FC236}">
                <a16:creationId xmlns:a16="http://schemas.microsoft.com/office/drawing/2014/main" id="{20ADBD4B-82DA-4401-A2BE-88C82E0BF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47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825" b="1">
                <a:solidFill>
                  <a:srgbClr val="182B23"/>
                </a:solidFill>
                <a:latin typeface="Lato"/>
                <a:ea typeface="Lato"/>
                <a:cs typeface="Lato"/>
              </a:defRPr>
            </a:pPr>
            <a:r>
              <a:rPr sz="3825" b="1">
                <a:solidFill>
                  <a:srgbClr val="182B23"/>
                </a:solidFill>
                <a:latin typeface="Lato"/>
                <a:ea typeface="Lato"/>
                <a:cs typeface="Lato"/>
              </a:rPr>
              <a:t>Cel jest blisko.</a:t>
            </a:r>
          </a:p>
          <a:p xmlns:a="http://schemas.openxmlformats.org/drawingml/2006/main">
            <a:pPr>
              <a:defRPr sz="3825" b="1">
                <a:solidFill>
                  <a:srgbClr val="182B23"/>
                </a:solidFill>
                <a:latin typeface="Lato"/>
                <a:ea typeface="Lato"/>
                <a:cs typeface="Lato"/>
              </a:defRPr>
            </a:pPr>
            <a:r>
              <a:rPr sz="3825" b="1">
                <a:solidFill>
                  <a:srgbClr val="182B23"/>
                </a:solidFill>
                <a:latin typeface="Lato"/>
                <a:ea typeface="Lato"/>
                <a:cs typeface="Lato"/>
              </a:rPr>
              <a:t>Dojście kończy się schodami.</a:t>
            </a:r>
          </a:p>
        </p:txBody>
      </p:sp>
      <p:sp>
        <p:nvSpPr>
          <p:cNvPr id="5" name="Dla osoby na wózku jeden trudny odcinek&#10;może zmienić całą po">
            <a:extLst xmlns:a="http://schemas.openxmlformats.org/drawingml/2006/main">
              <a:ext uri="{FF2B5EF4-FFF2-40B4-BE49-F238E27FC236}">
                <a16:creationId xmlns:a16="http://schemas.microsoft.com/office/drawing/2014/main" id="{7672A65E-3994-4DEA-ACE0-DD3CCF944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09875"/>
            <a:ext cx="10191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315A43"/>
                </a:solidFill>
                <a:latin typeface="Lato"/>
                <a:ea typeface="Lato"/>
                <a:cs typeface="Lato"/>
              </a:defRPr>
            </a:pPr>
            <a:r>
              <a:rPr sz="2325" b="0">
                <a:solidFill>
                  <a:srgbClr val="315A43"/>
                </a:solidFill>
                <a:latin typeface="Lato"/>
                <a:ea typeface="Lato"/>
                <a:cs typeface="Lato"/>
              </a:rPr>
              <a:t>Dla osoby na wózku jeden trudny odcinek</a:t>
            </a:r>
          </a:p>
          <a:p xmlns:a="http://schemas.openxmlformats.org/drawingml/2006/main">
            <a:pPr>
              <a:defRPr sz="2325" b="0">
                <a:solidFill>
                  <a:srgbClr val="315A43"/>
                </a:solidFill>
                <a:latin typeface="Lato"/>
                <a:ea typeface="Lato"/>
                <a:cs typeface="Lato"/>
              </a:defRPr>
            </a:pPr>
            <a:r>
              <a:rPr sz="2325" b="0">
                <a:solidFill>
                  <a:srgbClr val="315A43"/>
                </a:solidFill>
                <a:latin typeface="Lato"/>
                <a:ea typeface="Lato"/>
                <a:cs typeface="Lato"/>
              </a:rPr>
              <a:t>może zmienić całą podróż.</a:t>
            </a:r>
          </a:p>
        </p:txBody>
      </p:sp>
      <p:sp>
        <p:nvSpPr>
          <p:cNvPr id="6" name="Parametry zamiast etykiety">
            <a:extLst xmlns:a="http://schemas.openxmlformats.org/drawingml/2006/main">
              <a:ext uri="{FF2B5EF4-FFF2-40B4-BE49-F238E27FC236}">
                <a16:creationId xmlns:a16="http://schemas.microsoft.com/office/drawing/2014/main" id="{19E92A08-DA59-4F90-8CD5-6C1E5AFCD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2B23"/>
                </a:solidFill>
                <a:latin typeface="Lato"/>
                <a:ea typeface="Lato"/>
                <a:cs typeface="Lato"/>
              </a:defRPr>
            </a:pPr>
            <a:r>
              <a:rPr sz="1875" b="1">
                <a:solidFill>
                  <a:srgbClr val="182B23"/>
                </a:solidFill>
                <a:latin typeface="Lato"/>
                <a:ea typeface="Lato"/>
                <a:cs typeface="Lato"/>
              </a:rPr>
              <a:t>Parametry zamiast etykiety</a:t>
            </a:r>
          </a:p>
        </p:txBody>
      </p:sp>
      <p:sp>
        <p:nvSpPr>
          <p:cNvPr id="7" name="„Dostępne” nie mówi o szerokości, krawężniku ani nachyleniu.">
            <a:extLst xmlns:a="http://schemas.openxmlformats.org/drawingml/2006/main">
              <a:ext uri="{FF2B5EF4-FFF2-40B4-BE49-F238E27FC236}">
                <a16:creationId xmlns:a16="http://schemas.microsoft.com/office/drawing/2014/main" id="{8D0F1DBA-C5DF-40D6-A168-B90DD6A74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4048125"/>
            <a:ext cx="6448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6766A"/>
                </a:solidFill>
                <a:latin typeface="Lato"/>
                <a:ea typeface="Lato"/>
                <a:cs typeface="Lato"/>
              </a:defRPr>
            </a:pPr>
            <a:r>
              <a:rPr sz="1800" b="0">
                <a:solidFill>
                  <a:srgbClr val="66766A"/>
                </a:solidFill>
                <a:latin typeface="Lato"/>
                <a:ea typeface="Lato"/>
                <a:cs typeface="Lato"/>
              </a:rPr>
              <a:t>„Dostępne” nie mówi o szerokości, krawężniku ani nachyleniu.</a:t>
            </a:r>
          </a:p>
        </p:txBody>
      </p:sp>
      <p:sp>
        <p:nvSpPr>
          <p:cNvPr id="8" name="Miasto zmienia się codziennie">
            <a:extLst xmlns:a="http://schemas.openxmlformats.org/drawingml/2006/main">
              <a:ext uri="{FF2B5EF4-FFF2-40B4-BE49-F238E27FC236}">
                <a16:creationId xmlns:a16="http://schemas.microsoft.com/office/drawing/2014/main" id="{FB724BEE-0182-4ECA-926A-084E3F8F5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33925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2B23"/>
                </a:solidFill>
                <a:latin typeface="Lato"/>
                <a:ea typeface="Lato"/>
                <a:cs typeface="Lato"/>
              </a:defRPr>
            </a:pPr>
            <a:r>
              <a:rPr sz="1875" b="1">
                <a:solidFill>
                  <a:srgbClr val="182B23"/>
                </a:solidFill>
                <a:latin typeface="Lato"/>
                <a:ea typeface="Lato"/>
                <a:cs typeface="Lato"/>
              </a:rPr>
              <a:t>Miasto zmienia się codziennie</a:t>
            </a:r>
          </a:p>
        </p:txBody>
      </p:sp>
      <p:sp>
        <p:nvSpPr>
          <p:cNvPr id="9" name="Remont lub przeszkoda mogą zamknąć wcześniej znane dojście.">
            <a:extLst xmlns:a="http://schemas.openxmlformats.org/drawingml/2006/main">
              <a:ext uri="{FF2B5EF4-FFF2-40B4-BE49-F238E27FC236}">
                <a16:creationId xmlns:a16="http://schemas.microsoft.com/office/drawing/2014/main" id="{3A557C38-5486-4856-93BF-DCEB7CDBC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4733925"/>
            <a:ext cx="6448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6766A"/>
                </a:solidFill>
                <a:latin typeface="Lato"/>
                <a:ea typeface="Lato"/>
                <a:cs typeface="Lato"/>
              </a:defRPr>
            </a:pPr>
            <a:r>
              <a:rPr sz="1800" b="0">
                <a:solidFill>
                  <a:srgbClr val="66766A"/>
                </a:solidFill>
                <a:latin typeface="Lato"/>
                <a:ea typeface="Lato"/>
                <a:cs typeface="Lato"/>
              </a:rPr>
              <a:t>Remont lub przeszkoda mogą zamknąć wcześniej znane dojście.</a:t>
            </a:r>
          </a:p>
        </p:txBody>
      </p:sp>
      <p:sp>
        <p:nvSpPr>
          <p:cNvPr id="10" name="Braki danych utrudniają decyzję">
            <a:extLst xmlns:a="http://schemas.openxmlformats.org/drawingml/2006/main">
              <a:ext uri="{FF2B5EF4-FFF2-40B4-BE49-F238E27FC236}">
                <a16:creationId xmlns:a16="http://schemas.microsoft.com/office/drawing/2014/main" id="{045B7469-5381-4059-AF64-1CA744B0D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9725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2B23"/>
                </a:solidFill>
                <a:latin typeface="Lato"/>
                <a:ea typeface="Lato"/>
                <a:cs typeface="Lato"/>
              </a:defRPr>
            </a:pPr>
            <a:r>
              <a:rPr sz="1875" b="1">
                <a:solidFill>
                  <a:srgbClr val="182B23"/>
                </a:solidFill>
                <a:latin typeface="Lato"/>
                <a:ea typeface="Lato"/>
                <a:cs typeface="Lato"/>
              </a:rPr>
              <a:t>Braki danych utrudniają decyzję</a:t>
            </a:r>
          </a:p>
        </p:txBody>
      </p:sp>
      <p:sp>
        <p:nvSpPr>
          <p:cNvPr id="11" name="Użytkownik musi wiedzieć, czego mapa jeszcze nie potwierdza.">
            <a:extLst xmlns:a="http://schemas.openxmlformats.org/drawingml/2006/main">
              <a:ext uri="{FF2B5EF4-FFF2-40B4-BE49-F238E27FC236}">
                <a16:creationId xmlns:a16="http://schemas.microsoft.com/office/drawing/2014/main" id="{176D6E97-3AE5-4C08-9353-DC0625BD0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5419725"/>
            <a:ext cx="6448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6766A"/>
                </a:solidFill>
                <a:latin typeface="Lato"/>
                <a:ea typeface="Lato"/>
                <a:cs typeface="Lato"/>
              </a:defRPr>
            </a:pPr>
            <a:r>
              <a:rPr sz="1800" b="0">
                <a:solidFill>
                  <a:srgbClr val="66766A"/>
                </a:solidFill>
                <a:latin typeface="Lato"/>
                <a:ea typeface="Lato"/>
                <a:cs typeface="Lato"/>
              </a:rPr>
              <a:t>Użytkownik musi wiedzieć, czego mapa jeszcze nie potwierdza.</a:t>
            </a:r>
          </a:p>
        </p:txBody>
      </p:sp>
    </p:spTree>
    <p:extLst>
      <p:ext uri="{BB962C8B-B14F-4D97-AF65-F5344CB8AC3E}">
        <p14:creationId xmlns:p14="http://schemas.microsoft.com/office/powerpoint/2010/main" val="102714957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pewnyszlak.">
            <a:extLst xmlns:a="http://schemas.openxmlformats.org/drawingml/2006/main">
              <a:ext uri="{FF2B5EF4-FFF2-40B4-BE49-F238E27FC236}">
                <a16:creationId xmlns:a16="http://schemas.microsoft.com/office/drawing/2014/main" id="{36192CF4-26C0-46A9-90DA-5C12553E1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315A43"/>
                </a:solidFill>
                <a:latin typeface="Lato"/>
                <a:ea typeface="Lato"/>
                <a:cs typeface="Lato"/>
              </a:defRPr>
            </a:pPr>
            <a:r>
              <a:rPr sz="1875" b="1">
                <a:solidFill>
                  <a:srgbClr val="315A43"/>
                </a:solidFill>
                <a:latin typeface="Lato"/>
                <a:ea typeface="Lato"/>
                <a:cs typeface="Lato"/>
              </a:rPr>
              <a:t>pewnyszlak.</a:t>
            </a:r>
          </a:p>
        </p:txBody>
      </p:sp>
      <p:sp>
        <p:nvSpPr>
          <p:cNvPr id="2" name="ROZWIĄZANIE">
            <a:extLst xmlns:a="http://schemas.openxmlformats.org/drawingml/2006/main">
              <a:ext uri="{FF2B5EF4-FFF2-40B4-BE49-F238E27FC236}">
                <a16:creationId xmlns:a16="http://schemas.microsoft.com/office/drawing/2014/main" id="{3FFEA28A-051D-4A3A-A9F1-B55C5F2DC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1075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6766A"/>
                </a:solidFill>
                <a:latin typeface="Lato"/>
                <a:ea typeface="Lato"/>
                <a:cs typeface="Lato"/>
              </a:defRPr>
            </a:pPr>
            <a:r>
              <a:rPr sz="1200" b="1">
                <a:solidFill>
                  <a:srgbClr val="66766A"/>
                </a:solidFill>
                <a:latin typeface="Lato"/>
                <a:ea typeface="Lato"/>
                <a:cs typeface="Lato"/>
              </a:rPr>
              <a:t>ROZWIĄZANIE</a:t>
            </a:r>
          </a:p>
        </p:txBody>
      </p:sp>
      <p:sp>
        <p:nvSpPr>
          <p:cNvPr id="3" name="03 / 10">
            <a:extLst xmlns:a="http://schemas.openxmlformats.org/drawingml/2006/main">
              <a:ext uri="{FF2B5EF4-FFF2-40B4-BE49-F238E27FC236}">
                <a16:creationId xmlns:a16="http://schemas.microsoft.com/office/drawing/2014/main" id="{64C0DAB2-998D-458D-AF7D-67A4B5B82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6457950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6766A"/>
                </a:solidFill>
                <a:latin typeface="Lato"/>
                <a:ea typeface="Lato"/>
                <a:cs typeface="Lato"/>
              </a:defRPr>
            </a:pPr>
            <a:r>
              <a:rPr sz="975" b="0">
                <a:solidFill>
                  <a:srgbClr val="66766A"/>
                </a:solidFill>
                <a:latin typeface="Lato"/>
                <a:ea typeface="Lato"/>
                <a:cs typeface="Lato"/>
              </a:rPr>
              <a:t>03 / 10</a:t>
            </a:r>
          </a:p>
        </p:txBody>
      </p:sp>
      <p:sp>
        <p:nvSpPr>
          <p:cNvPr id="4" name="Trasa dopasowana&#10;do Twoich limitów">
            <a:extLst xmlns:a="http://schemas.openxmlformats.org/drawingml/2006/main">
              <a:ext uri="{FF2B5EF4-FFF2-40B4-BE49-F238E27FC236}">
                <a16:creationId xmlns:a16="http://schemas.microsoft.com/office/drawing/2014/main" id="{9927A781-C392-4F0F-97A0-4E3F5A7D2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73818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825" b="1">
                <a:solidFill>
                  <a:srgbClr val="182B23"/>
                </a:solidFill>
                <a:latin typeface="Lato"/>
                <a:ea typeface="Lato"/>
                <a:cs typeface="Lato"/>
              </a:defRPr>
            </a:pPr>
            <a:r>
              <a:rPr sz="3825" b="1">
                <a:solidFill>
                  <a:srgbClr val="182B23"/>
                </a:solidFill>
                <a:latin typeface="Lato"/>
                <a:ea typeface="Lato"/>
                <a:cs typeface="Lato"/>
              </a:rPr>
              <a:t>Trasa dopasowana</a:t>
            </a:r>
          </a:p>
          <a:p xmlns:a="http://schemas.openxmlformats.org/drawingml/2006/main">
            <a:pPr>
              <a:defRPr sz="3825" b="1">
                <a:solidFill>
                  <a:srgbClr val="182B23"/>
                </a:solidFill>
                <a:latin typeface="Lato"/>
                <a:ea typeface="Lato"/>
                <a:cs typeface="Lato"/>
              </a:defRPr>
            </a:pPr>
            <a:r>
              <a:rPr sz="3825" b="1">
                <a:solidFill>
                  <a:srgbClr val="182B23"/>
                </a:solidFill>
                <a:latin typeface="Lato"/>
                <a:ea typeface="Lato"/>
                <a:cs typeface="Lato"/>
              </a:rPr>
              <a:t>do Twoich limitów</a:t>
            </a:r>
          </a:p>
        </p:txBody>
      </p:sp>
      <p:sp>
        <p:nvSpPr>
          <p:cNvPr id="5" name="Ustawiasz preferencje. Silnik odrzuca&#10;znane bariery, które j">
            <a:extLst xmlns:a="http://schemas.openxmlformats.org/drawingml/2006/main">
              <a:ext uri="{FF2B5EF4-FFF2-40B4-BE49-F238E27FC236}">
                <a16:creationId xmlns:a16="http://schemas.microsoft.com/office/drawing/2014/main" id="{25F85AB4-A920-4654-9550-722E8DFBE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69818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315A43"/>
                </a:solidFill>
                <a:latin typeface="Lato"/>
                <a:ea typeface="Lato"/>
                <a:cs typeface="Lato"/>
              </a:defRPr>
            </a:pPr>
            <a:r>
              <a:rPr sz="2250" b="0">
                <a:solidFill>
                  <a:srgbClr val="315A43"/>
                </a:solidFill>
                <a:latin typeface="Lato"/>
                <a:ea typeface="Lato"/>
                <a:cs typeface="Lato"/>
              </a:rPr>
              <a:t>Ustawiasz preferencje. Silnik odrzuca</a:t>
            </a:r>
          </a:p>
          <a:p xmlns:a="http://schemas.openxmlformats.org/drawingml/2006/main">
            <a:pPr>
              <a:defRPr sz="2250" b="0">
                <a:solidFill>
                  <a:srgbClr val="315A43"/>
                </a:solidFill>
                <a:latin typeface="Lato"/>
                <a:ea typeface="Lato"/>
                <a:cs typeface="Lato"/>
              </a:defRPr>
            </a:pPr>
            <a:r>
              <a:rPr sz="2250" b="0">
                <a:solidFill>
                  <a:srgbClr val="315A43"/>
                </a:solidFill>
                <a:latin typeface="Lato"/>
                <a:ea typeface="Lato"/>
                <a:cs typeface="Lato"/>
              </a:rPr>
              <a:t>znane bariery, które je przekraczają.</a:t>
            </a:r>
          </a:p>
        </p:txBody>
      </p:sp>
      <p:sp>
        <p:nvSpPr>
          <p:cNvPr id="6" name="6%">
            <a:extLst xmlns:a="http://schemas.openxmlformats.org/drawingml/2006/main">
              <a:ext uri="{FF2B5EF4-FFF2-40B4-BE49-F238E27FC236}">
                <a16:creationId xmlns:a16="http://schemas.microsoft.com/office/drawing/2014/main" id="{DDDEBB4D-5EB4-43D4-807A-5A4F2F92D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214312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825" b="1">
                <a:solidFill>
                  <a:srgbClr val="182B23"/>
                </a:solidFill>
                <a:latin typeface="Lato"/>
                <a:ea typeface="Lato"/>
                <a:cs typeface="Lato"/>
              </a:defRPr>
            </a:pPr>
            <a:r>
              <a:rPr sz="3825" b="1">
                <a:solidFill>
                  <a:srgbClr val="182B23"/>
                </a:solidFill>
                <a:latin typeface="Lato"/>
                <a:ea typeface="Lato"/>
                <a:cs typeface="Lato"/>
              </a:rPr>
              <a:t>6%</a:t>
            </a:r>
          </a:p>
        </p:txBody>
      </p:sp>
      <p:sp>
        <p:nvSpPr>
          <p:cNvPr id="7" name="nachylenie">
            <a:extLst xmlns:a="http://schemas.openxmlformats.org/drawingml/2006/main">
              <a:ext uri="{FF2B5EF4-FFF2-40B4-BE49-F238E27FC236}">
                <a16:creationId xmlns:a16="http://schemas.microsoft.com/office/drawing/2014/main" id="{25E2FE1A-31C8-42DB-A54E-D2B4F2BCC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0625"/>
            <a:ext cx="2143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6766A"/>
                </a:solidFill>
                <a:latin typeface="Lato"/>
                <a:ea typeface="Lato"/>
                <a:cs typeface="Lato"/>
              </a:defRPr>
            </a:pPr>
            <a:r>
              <a:rPr sz="1725" b="0">
                <a:solidFill>
                  <a:srgbClr val="66766A"/>
                </a:solidFill>
                <a:latin typeface="Lato"/>
                <a:ea typeface="Lato"/>
                <a:cs typeface="Lato"/>
              </a:rPr>
              <a:t>nachylenie</a:t>
            </a:r>
          </a:p>
        </p:txBody>
      </p:sp>
      <p:sp>
        <p:nvSpPr>
          <p:cNvPr id="8" name="2 cm">
            <a:extLst xmlns:a="http://schemas.openxmlformats.org/drawingml/2006/main">
              <a:ext uri="{FF2B5EF4-FFF2-40B4-BE49-F238E27FC236}">
                <a16:creationId xmlns:a16="http://schemas.microsoft.com/office/drawing/2014/main" id="{1A42188A-DD2F-46ED-8951-BB46EFF8C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238625"/>
            <a:ext cx="214312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825" b="1">
                <a:solidFill>
                  <a:srgbClr val="182B23"/>
                </a:solidFill>
                <a:latin typeface="Lato"/>
                <a:ea typeface="Lato"/>
                <a:cs typeface="Lato"/>
              </a:defRPr>
            </a:pPr>
            <a:r>
              <a:rPr sz="3825" b="1">
                <a:solidFill>
                  <a:srgbClr val="182B23"/>
                </a:solidFill>
                <a:latin typeface="Lato"/>
                <a:ea typeface="Lato"/>
                <a:cs typeface="Lato"/>
              </a:rPr>
              <a:t>2 cm</a:t>
            </a:r>
          </a:p>
        </p:txBody>
      </p:sp>
      <p:sp>
        <p:nvSpPr>
          <p:cNvPr id="9" name="krawężnik">
            <a:extLst xmlns:a="http://schemas.openxmlformats.org/drawingml/2006/main">
              <a:ext uri="{FF2B5EF4-FFF2-40B4-BE49-F238E27FC236}">
                <a16:creationId xmlns:a16="http://schemas.microsoft.com/office/drawing/2014/main" id="{3A73CE24-97D3-4B08-B563-F65D294FF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000625"/>
            <a:ext cx="2143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6766A"/>
                </a:solidFill>
                <a:latin typeface="Lato"/>
                <a:ea typeface="Lato"/>
                <a:cs typeface="Lato"/>
              </a:defRPr>
            </a:pPr>
            <a:r>
              <a:rPr sz="1725" b="0">
                <a:solidFill>
                  <a:srgbClr val="66766A"/>
                </a:solidFill>
                <a:latin typeface="Lato"/>
                <a:ea typeface="Lato"/>
                <a:cs typeface="Lato"/>
              </a:rPr>
              <a:t>krawężnik</a:t>
            </a:r>
          </a:p>
        </p:txBody>
      </p:sp>
      <p:sp>
        <p:nvSpPr>
          <p:cNvPr id="10" name="90 cm">
            <a:extLst xmlns:a="http://schemas.openxmlformats.org/drawingml/2006/main">
              <a:ext uri="{FF2B5EF4-FFF2-40B4-BE49-F238E27FC236}">
                <a16:creationId xmlns:a16="http://schemas.microsoft.com/office/drawing/2014/main" id="{A6459999-29F1-424D-AE79-33B133A96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238625"/>
            <a:ext cx="214312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825" b="1">
                <a:solidFill>
                  <a:srgbClr val="182B23"/>
                </a:solidFill>
                <a:latin typeface="Lato"/>
                <a:ea typeface="Lato"/>
                <a:cs typeface="Lato"/>
              </a:defRPr>
            </a:pPr>
            <a:r>
              <a:rPr sz="3825" b="1">
                <a:solidFill>
                  <a:srgbClr val="182B23"/>
                </a:solidFill>
                <a:latin typeface="Lato"/>
                <a:ea typeface="Lato"/>
                <a:cs typeface="Lato"/>
              </a:rPr>
              <a:t>90 cm</a:t>
            </a:r>
          </a:p>
        </p:txBody>
      </p:sp>
      <p:sp>
        <p:nvSpPr>
          <p:cNvPr id="11" name="szerokość">
            <a:extLst xmlns:a="http://schemas.openxmlformats.org/drawingml/2006/main">
              <a:ext uri="{FF2B5EF4-FFF2-40B4-BE49-F238E27FC236}">
                <a16:creationId xmlns:a16="http://schemas.microsoft.com/office/drawing/2014/main" id="{913F7C4A-FBAA-4A3A-8F4A-E1ABA58CB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000625"/>
            <a:ext cx="2143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6766A"/>
                </a:solidFill>
                <a:latin typeface="Lato"/>
                <a:ea typeface="Lato"/>
                <a:cs typeface="Lato"/>
              </a:defRPr>
            </a:pPr>
            <a:r>
              <a:rPr sz="1725" b="0">
                <a:solidFill>
                  <a:srgbClr val="66766A"/>
                </a:solidFill>
                <a:latin typeface="Lato"/>
                <a:ea typeface="Lato"/>
                <a:cs typeface="Lato"/>
              </a:rPr>
              <a:t>szerokość</a:t>
            </a:r>
          </a:p>
        </p:txBody>
      </p:sp>
      <p:sp>
        <p:nvSpPr>
          <p:cNvPr id="12" name="Przykładowy profil wózka. Limity można zmienić.&#10;Bez konta i ">
            <a:extLst xmlns:a="http://schemas.openxmlformats.org/drawingml/2006/main">
              <a:ext uri="{FF2B5EF4-FFF2-40B4-BE49-F238E27FC236}">
                <a16:creationId xmlns:a16="http://schemas.microsoft.com/office/drawing/2014/main" id="{E0EA4F14-FBCD-4396-BBF7-C09926CF2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708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6766A"/>
                </a:solidFill>
                <a:latin typeface="Lato"/>
                <a:ea typeface="Lato"/>
                <a:cs typeface="Lato"/>
              </a:defRPr>
            </a:pPr>
            <a:r>
              <a:rPr sz="1650" b="0">
                <a:solidFill>
                  <a:srgbClr val="66766A"/>
                </a:solidFill>
                <a:latin typeface="Lato"/>
                <a:ea typeface="Lato"/>
                <a:cs typeface="Lato"/>
              </a:rPr>
              <a:t>Przykładowy profil wózka. Limity można zmienić.</a:t>
            </a:r>
          </a:p>
          <a:p xmlns:a="http://schemas.openxmlformats.org/drawingml/2006/main">
            <a:pPr>
              <a:defRPr sz="1650" b="0">
                <a:solidFill>
                  <a:srgbClr val="66766A"/>
                </a:solidFill>
                <a:latin typeface="Lato"/>
                <a:ea typeface="Lato"/>
                <a:cs typeface="Lato"/>
              </a:defRPr>
            </a:pPr>
            <a:r>
              <a:rPr sz="1650" b="0">
                <a:solidFill>
                  <a:srgbClr val="66766A"/>
                </a:solidFill>
                <a:latin typeface="Lato"/>
                <a:ea typeface="Lato"/>
                <a:cs typeface="Lato"/>
              </a:rPr>
              <a:t>Bez konta i bez pytań o stan zdrowia.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1cfe1198c44eb6"/>
          <a:stretch xmlns:a="http://schemas.openxmlformats.org/drawingml/2006/main"/>
        </p:blipFill>
        <p:spPr>
          <a:xfrm xmlns:a="http://schemas.openxmlformats.org/drawingml/2006/main">
            <a:off x="8543925" y="822118"/>
            <a:ext cx="2581275" cy="559476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24970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ewnyszlak.">
            <a:extLst xmlns:a="http://schemas.openxmlformats.org/drawingml/2006/main">
              <a:ext uri="{FF2B5EF4-FFF2-40B4-BE49-F238E27FC236}">
                <a16:creationId xmlns:a16="http://schemas.microsoft.com/office/drawing/2014/main" id="{21FDD70A-6B18-49FE-BD96-9801FFD5C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315A43"/>
                </a:solidFill>
                <a:latin typeface="Lato"/>
                <a:ea typeface="Lato"/>
                <a:cs typeface="Lato"/>
              </a:defRPr>
            </a:pPr>
            <a:r>
              <a:rPr sz="1875" b="1">
                <a:solidFill>
                  <a:srgbClr val="315A43"/>
                </a:solidFill>
                <a:latin typeface="Lato"/>
                <a:ea typeface="Lato"/>
                <a:cs typeface="Lato"/>
              </a:rPr>
              <a:t>pewnyszlak.</a:t>
            </a:r>
          </a:p>
        </p:txBody>
      </p:sp>
      <p:sp>
        <p:nvSpPr>
          <p:cNvPr id="2" name="DEMO PRODUKTU">
            <a:extLst xmlns:a="http://schemas.openxmlformats.org/drawingml/2006/main">
              <a:ext uri="{FF2B5EF4-FFF2-40B4-BE49-F238E27FC236}">
                <a16:creationId xmlns:a16="http://schemas.microsoft.com/office/drawing/2014/main" id="{35F05DB7-C09C-4A1E-99CD-A70C51A31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1075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6766A"/>
                </a:solidFill>
                <a:latin typeface="Lato"/>
                <a:ea typeface="Lato"/>
                <a:cs typeface="Lato"/>
              </a:defRPr>
            </a:pPr>
            <a:r>
              <a:rPr sz="1200" b="1">
                <a:solidFill>
                  <a:srgbClr val="66766A"/>
                </a:solidFill>
                <a:latin typeface="Lato"/>
                <a:ea typeface="Lato"/>
                <a:cs typeface="Lato"/>
              </a:rPr>
              <a:t>DEMO PRODUKTU</a:t>
            </a:r>
          </a:p>
        </p:txBody>
      </p:sp>
      <p:sp>
        <p:nvSpPr>
          <p:cNvPr id="3" name="04 / 10">
            <a:extLst xmlns:a="http://schemas.openxmlformats.org/drawingml/2006/main">
              <a:ext uri="{FF2B5EF4-FFF2-40B4-BE49-F238E27FC236}">
                <a16:creationId xmlns:a16="http://schemas.microsoft.com/office/drawing/2014/main" id="{33E9A8CE-15D9-4312-8A20-B01F27D8B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6457950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6766A"/>
                </a:solidFill>
                <a:latin typeface="Lato"/>
                <a:ea typeface="Lato"/>
                <a:cs typeface="Lato"/>
              </a:defRPr>
            </a:pPr>
            <a:r>
              <a:rPr sz="975" b="0">
                <a:solidFill>
                  <a:srgbClr val="66766A"/>
                </a:solidFill>
                <a:latin typeface="Lato"/>
                <a:ea typeface="Lato"/>
                <a:cs typeface="Lato"/>
              </a:rPr>
              <a:t>04 / 10</a:t>
            </a:r>
          </a:p>
        </p:txBody>
      </p:sp>
      <p:sp>
        <p:nvSpPr>
          <p:cNvPr id="4" name="Rynek Główny&#10;Wawel">
            <a:extLst xmlns:a="http://schemas.openxmlformats.org/drawingml/2006/main">
              <a:ext uri="{FF2B5EF4-FFF2-40B4-BE49-F238E27FC236}">
                <a16:creationId xmlns:a16="http://schemas.microsoft.com/office/drawing/2014/main" id="{23A30387-035E-43AC-91EA-2D115E500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4762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825" b="1">
                <a:solidFill>
                  <a:srgbClr val="182B23"/>
                </a:solidFill>
                <a:latin typeface="Lato"/>
                <a:ea typeface="Lato"/>
                <a:cs typeface="Lato"/>
              </a:defRPr>
            </a:pPr>
            <a:r>
              <a:rPr sz="3825" b="1">
                <a:solidFill>
                  <a:srgbClr val="182B23"/>
                </a:solidFill>
                <a:latin typeface="Lato"/>
                <a:ea typeface="Lato"/>
                <a:cs typeface="Lato"/>
              </a:rPr>
              <a:t>Rynek Główny</a:t>
            </a:r>
          </a:p>
          <a:p xmlns:a="http://schemas.openxmlformats.org/drawingml/2006/main">
            <a:pPr>
              <a:defRPr sz="3825" b="1">
                <a:solidFill>
                  <a:srgbClr val="182B23"/>
                </a:solidFill>
                <a:latin typeface="Lato"/>
                <a:ea typeface="Lato"/>
                <a:cs typeface="Lato"/>
              </a:defRPr>
            </a:pPr>
            <a:r>
              <a:rPr sz="3825" b="1">
                <a:solidFill>
                  <a:srgbClr val="182B23"/>
                </a:solidFill>
                <a:latin typeface="Lato"/>
                <a:ea typeface="Lato"/>
                <a:cs typeface="Lato"/>
              </a:rPr>
              <a:t>Wawel</a:t>
            </a:r>
          </a:p>
        </p:txBody>
      </p:sp>
      <p:sp>
        <p:nvSpPr>
          <p:cNvPr id="5" name="Przed wyjściem">
            <a:extLst xmlns:a="http://schemas.openxmlformats.org/drawingml/2006/main">
              <a:ext uri="{FF2B5EF4-FFF2-40B4-BE49-F238E27FC236}">
                <a16:creationId xmlns:a16="http://schemas.microsoft.com/office/drawing/2014/main" id="{73F213B7-0EF9-4EED-A3A2-536C4450B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28925"/>
            <a:ext cx="4248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15A43"/>
                </a:solidFill>
                <a:latin typeface="Lato"/>
                <a:ea typeface="Lato"/>
                <a:cs typeface="Lato"/>
              </a:defRPr>
            </a:pPr>
            <a:r>
              <a:rPr sz="2250" b="1">
                <a:solidFill>
                  <a:srgbClr val="315A43"/>
                </a:solidFill>
                <a:latin typeface="Lato"/>
                <a:ea typeface="Lato"/>
                <a:cs typeface="Lato"/>
              </a:rPr>
              <a:t>Przed wyjściem</a:t>
            </a:r>
          </a:p>
        </p:txBody>
      </p:sp>
      <p:sp>
        <p:nvSpPr>
          <p:cNvPr id="6" name="Przebieg trasy w 3D i podgląd&#10;najtrudniejszych etapów.&#10;&#10;Odci">
            <a:extLst xmlns:a="http://schemas.openxmlformats.org/drawingml/2006/main">
              <a:ext uri="{FF2B5EF4-FFF2-40B4-BE49-F238E27FC236}">
                <a16:creationId xmlns:a16="http://schemas.microsoft.com/office/drawing/2014/main" id="{75B6B1FF-3B17-421B-AD9E-66B2FD8F9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19475"/>
            <a:ext cx="4657725" cy="1990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66766A"/>
                </a:solidFill>
                <a:latin typeface="Lato"/>
                <a:ea typeface="Lato"/>
                <a:cs typeface="Lato"/>
              </a:defRPr>
            </a:pPr>
            <a:r>
              <a:rPr sz="2025" b="0">
                <a:solidFill>
                  <a:srgbClr val="66766A"/>
                </a:solidFill>
                <a:latin typeface="Lato"/>
                <a:ea typeface="Lato"/>
                <a:cs typeface="Lato"/>
              </a:rPr>
              <a:t>Przebieg trasy w 3D i podgląd</a:t>
            </a:r>
          </a:p>
          <a:p xmlns:a="http://schemas.openxmlformats.org/drawingml/2006/main">
            <a:pPr>
              <a:defRPr sz="2025" b="0">
                <a:solidFill>
                  <a:srgbClr val="66766A"/>
                </a:solidFill>
                <a:latin typeface="Lato"/>
                <a:ea typeface="Lato"/>
                <a:cs typeface="Lato"/>
              </a:defRPr>
            </a:pPr>
            <a:r>
              <a:rPr sz="2025" b="0">
                <a:solidFill>
                  <a:srgbClr val="66766A"/>
                </a:solidFill>
                <a:latin typeface="Lato"/>
                <a:ea typeface="Lato"/>
                <a:cs typeface="Lato"/>
              </a:rPr>
              <a:t>najtrudniejszych etapów.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66766A"/>
                </a:solidFill>
                <a:latin typeface="Lato"/>
                <a:ea typeface="Lato"/>
                <a:cs typeface="Lato"/>
              </a:defRPr>
            </a:pPr>
            <a:r>
              <a:rPr sz="2025" b="0">
                <a:solidFill>
                  <a:srgbClr val="66766A"/>
                </a:solidFill>
                <a:latin typeface="Lato"/>
                <a:ea typeface="Lato"/>
                <a:cs typeface="Lato"/>
              </a:rPr>
              <a:t>Odcinki z brakami danych</a:t>
            </a:r>
          </a:p>
          <a:p xmlns:a="http://schemas.openxmlformats.org/drawingml/2006/main">
            <a:pPr>
              <a:defRPr sz="2025" b="0">
                <a:solidFill>
                  <a:srgbClr val="66766A"/>
                </a:solidFill>
                <a:latin typeface="Lato"/>
                <a:ea typeface="Lato"/>
                <a:cs typeface="Lato"/>
              </a:defRPr>
            </a:pPr>
            <a:r>
              <a:rPr sz="2025" b="0">
                <a:solidFill>
                  <a:srgbClr val="66766A"/>
                </a:solidFill>
                <a:latin typeface="Lato"/>
                <a:ea typeface="Lato"/>
                <a:cs typeface="Lato"/>
              </a:rPr>
              <a:t>otrzymują osobne oznaczenia.</a:t>
            </a:r>
          </a:p>
        </p:txBody>
      </p:sp>
      <p:sp>
        <p:nvSpPr>
          <p:cNvPr id="7" name="W scenariuszu demo aktywna&#10;blokada Grodzkiej wymusza objazd.">
            <a:extLst xmlns:a="http://schemas.openxmlformats.org/drawingml/2006/main">
              <a:ext uri="{FF2B5EF4-FFF2-40B4-BE49-F238E27FC236}">
                <a16:creationId xmlns:a16="http://schemas.microsoft.com/office/drawing/2014/main" id="{3CCF8C9A-4805-47BE-B867-398A3D920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4686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15A43"/>
                </a:solidFill>
                <a:latin typeface="Lato"/>
                <a:ea typeface="Lato"/>
                <a:cs typeface="Lato"/>
              </a:defRPr>
            </a:pPr>
            <a:r>
              <a:rPr sz="1725" b="0">
                <a:solidFill>
                  <a:srgbClr val="315A43"/>
                </a:solidFill>
                <a:latin typeface="Lato"/>
                <a:ea typeface="Lato"/>
                <a:cs typeface="Lato"/>
              </a:rPr>
              <a:t>W scenariuszu demo aktywna</a:t>
            </a:r>
          </a:p>
          <a:p xmlns:a="http://schemas.openxmlformats.org/drawingml/2006/main">
            <a:pPr>
              <a:defRPr sz="1725" b="0">
                <a:solidFill>
                  <a:srgbClr val="315A43"/>
                </a:solidFill>
                <a:latin typeface="Lato"/>
                <a:ea typeface="Lato"/>
                <a:cs typeface="Lato"/>
              </a:defRPr>
            </a:pPr>
            <a:r>
              <a:rPr sz="1725" b="0">
                <a:solidFill>
                  <a:srgbClr val="315A43"/>
                </a:solidFill>
                <a:latin typeface="Lato"/>
                <a:ea typeface="Lato"/>
                <a:cs typeface="Lato"/>
              </a:rPr>
              <a:t>blokada Grodzkiej wymusza objazd.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e5a50b4cd6402b"/>
          <a:stretch xmlns:a="http://schemas.openxmlformats.org/drawingml/2006/main"/>
        </p:blipFill>
        <p:spPr>
          <a:xfrm xmlns:a="http://schemas.openxmlformats.org/drawingml/2006/main">
            <a:off x="5591175" y="802293"/>
            <a:ext cx="2533650" cy="5491539"/>
          </a:xfrm>
          <a:prstGeom xmlns:a="http://schemas.openxmlformats.org/drawingml/2006/main" prst="rect">
            <a:avLst/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2165266eb841f2"/>
          <a:stretch xmlns:a="http://schemas.openxmlformats.org/drawingml/2006/main"/>
        </p:blipFill>
        <p:spPr>
          <a:xfrm xmlns:a="http://schemas.openxmlformats.org/drawingml/2006/main">
            <a:off x="8667750" y="802293"/>
            <a:ext cx="2533650" cy="549153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906582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pewnyszlak.">
            <a:extLst xmlns:a="http://schemas.openxmlformats.org/drawingml/2006/main">
              <a:ext uri="{FF2B5EF4-FFF2-40B4-BE49-F238E27FC236}">
                <a16:creationId xmlns:a16="http://schemas.microsoft.com/office/drawing/2014/main" id="{BED0B4CF-9710-44BD-95C6-B1EEBCFF7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315A43"/>
                </a:solidFill>
                <a:latin typeface="Lato"/>
                <a:ea typeface="Lato"/>
                <a:cs typeface="Lato"/>
              </a:defRPr>
            </a:pPr>
            <a:r>
              <a:rPr sz="1875" b="1">
                <a:solidFill>
                  <a:srgbClr val="315A43"/>
                </a:solidFill>
                <a:latin typeface="Lato"/>
                <a:ea typeface="Lato"/>
                <a:cs typeface="Lato"/>
              </a:rPr>
              <a:t>pewnyszlak.</a:t>
            </a:r>
          </a:p>
        </p:txBody>
      </p:sp>
      <p:sp>
        <p:nvSpPr>
          <p:cNvPr id="2" name="SCENARIUSZE UŻYCIA">
            <a:extLst xmlns:a="http://schemas.openxmlformats.org/drawingml/2006/main">
              <a:ext uri="{FF2B5EF4-FFF2-40B4-BE49-F238E27FC236}">
                <a16:creationId xmlns:a16="http://schemas.microsoft.com/office/drawing/2014/main" id="{E2256209-C64E-4516-8BA7-432481877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1075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6766A"/>
                </a:solidFill>
                <a:latin typeface="Lato"/>
                <a:ea typeface="Lato"/>
                <a:cs typeface="Lato"/>
              </a:defRPr>
            </a:pPr>
            <a:r>
              <a:rPr sz="1200" b="1">
                <a:solidFill>
                  <a:srgbClr val="66766A"/>
                </a:solidFill>
                <a:latin typeface="Lato"/>
                <a:ea typeface="Lato"/>
                <a:cs typeface="Lato"/>
              </a:rPr>
              <a:t>SCENARIUSZE UŻYCIA</a:t>
            </a:r>
          </a:p>
        </p:txBody>
      </p:sp>
      <p:sp>
        <p:nvSpPr>
          <p:cNvPr id="3" name="05 / 10">
            <a:extLst xmlns:a="http://schemas.openxmlformats.org/drawingml/2006/main">
              <a:ext uri="{FF2B5EF4-FFF2-40B4-BE49-F238E27FC236}">
                <a16:creationId xmlns:a16="http://schemas.microsoft.com/office/drawing/2014/main" id="{81FE8A64-7EC2-4966-B067-0C504800B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6457950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6766A"/>
                </a:solidFill>
                <a:latin typeface="Lato"/>
                <a:ea typeface="Lato"/>
                <a:cs typeface="Lato"/>
              </a:defRPr>
            </a:pPr>
            <a:r>
              <a:rPr sz="975" b="0">
                <a:solidFill>
                  <a:srgbClr val="66766A"/>
                </a:solidFill>
                <a:latin typeface="Lato"/>
                <a:ea typeface="Lato"/>
                <a:cs typeface="Lato"/>
              </a:rPr>
              <a:t>05 / 10</a:t>
            </a:r>
          </a:p>
        </p:txBody>
      </p:sp>
      <p:sp>
        <p:nvSpPr>
          <p:cNvPr id="4" name="Jedno miasto, różne potrzeby">
            <a:extLst xmlns:a="http://schemas.openxmlformats.org/drawingml/2006/main">
              <a:ext uri="{FF2B5EF4-FFF2-40B4-BE49-F238E27FC236}">
                <a16:creationId xmlns:a16="http://schemas.microsoft.com/office/drawing/2014/main" id="{61E80165-EC71-46E4-90C1-4CFFBB74C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1334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825" b="1">
                <a:solidFill>
                  <a:srgbClr val="182B23"/>
                </a:solidFill>
                <a:latin typeface="Lato"/>
                <a:ea typeface="Lato"/>
                <a:cs typeface="Lato"/>
              </a:defRPr>
            </a:pPr>
            <a:r>
              <a:rPr sz="3825" b="1">
                <a:solidFill>
                  <a:srgbClr val="182B23"/>
                </a:solidFill>
                <a:latin typeface="Lato"/>
                <a:ea typeface="Lato"/>
                <a:cs typeface="Lato"/>
              </a:rPr>
              <a:t>Jedno miasto, różne potrzeby</a:t>
            </a:r>
          </a:p>
        </p:txBody>
      </p:sp>
      <p:sp>
        <p:nvSpPr>
          <p:cNvPr id="5" name="Osoba na wózku">
            <a:extLst xmlns:a="http://schemas.openxmlformats.org/drawingml/2006/main">
              <a:ext uri="{FF2B5EF4-FFF2-40B4-BE49-F238E27FC236}">
                <a16:creationId xmlns:a16="http://schemas.microsoft.com/office/drawing/2014/main" id="{ED6BB1A5-F94D-4AF7-864B-C25A830DD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7239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B23"/>
                </a:solidFill>
                <a:latin typeface="Lato"/>
                <a:ea typeface="Lato"/>
                <a:cs typeface="Lato"/>
              </a:defRPr>
            </a:pPr>
            <a:r>
              <a:rPr sz="1950" b="1">
                <a:solidFill>
                  <a:srgbClr val="182B23"/>
                </a:solidFill>
                <a:latin typeface="Lato"/>
                <a:ea typeface="Lato"/>
                <a:cs typeface="Lato"/>
              </a:rPr>
              <a:t>Osoba na wózku</a:t>
            </a:r>
          </a:p>
        </p:txBody>
      </p:sp>
      <p:sp>
        <p:nvSpPr>
          <p:cNvPr id="6" name="Dojazd bez znanych schodów i z opisem niepewności.">
            <a:extLst xmlns:a="http://schemas.openxmlformats.org/drawingml/2006/main">
              <a:ext uri="{FF2B5EF4-FFF2-40B4-BE49-F238E27FC236}">
                <a16:creationId xmlns:a16="http://schemas.microsoft.com/office/drawing/2014/main" id="{C095C585-D0C7-4BE1-A5D2-D9E78549F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733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6766A"/>
                </a:solidFill>
                <a:latin typeface="Lato"/>
                <a:ea typeface="Lato"/>
                <a:cs typeface="Lato"/>
              </a:defRPr>
            </a:pPr>
            <a:r>
              <a:rPr sz="1725" b="0">
                <a:solidFill>
                  <a:srgbClr val="66766A"/>
                </a:solidFill>
                <a:latin typeface="Lato"/>
                <a:ea typeface="Lato"/>
                <a:cs typeface="Lato"/>
              </a:rPr>
              <a:t>Dojazd bez znanych schodów i z opisem niepewności.</a:t>
            </a:r>
          </a:p>
        </p:txBody>
      </p:sp>
      <p:sp>
        <p:nvSpPr>
          <p:cNvPr id="7" name="Rodzic lub turysta z bagażem">
            <a:extLst xmlns:a="http://schemas.openxmlformats.org/drawingml/2006/main">
              <a:ext uri="{FF2B5EF4-FFF2-40B4-BE49-F238E27FC236}">
                <a16:creationId xmlns:a16="http://schemas.microsoft.com/office/drawing/2014/main" id="{20F50776-B3EF-4466-9FD6-7FB4585BD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7239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B23"/>
                </a:solidFill>
                <a:latin typeface="Lato"/>
                <a:ea typeface="Lato"/>
                <a:cs typeface="Lato"/>
              </a:defRPr>
            </a:pPr>
            <a:r>
              <a:rPr sz="1950" b="1">
                <a:solidFill>
                  <a:srgbClr val="182B23"/>
                </a:solidFill>
                <a:latin typeface="Lato"/>
                <a:ea typeface="Lato"/>
                <a:cs typeface="Lato"/>
              </a:rPr>
              <a:t>Rodzic lub turysta z bagażem</a:t>
            </a:r>
          </a:p>
        </p:txBody>
      </p:sp>
      <p:sp>
        <p:nvSpPr>
          <p:cNvPr id="8" name="Ocena nawierzchni przed wybraniem drogi.">
            <a:extLst xmlns:a="http://schemas.openxmlformats.org/drawingml/2006/main">
              <a:ext uri="{FF2B5EF4-FFF2-40B4-BE49-F238E27FC236}">
                <a16:creationId xmlns:a16="http://schemas.microsoft.com/office/drawing/2014/main" id="{2B8A22F4-B537-4AC6-A0E8-491E11F63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3825"/>
            <a:ext cx="733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6766A"/>
                </a:solidFill>
                <a:latin typeface="Lato"/>
                <a:ea typeface="Lato"/>
                <a:cs typeface="Lato"/>
              </a:defRPr>
            </a:pPr>
            <a:r>
              <a:rPr sz="1725" b="0">
                <a:solidFill>
                  <a:srgbClr val="66766A"/>
                </a:solidFill>
                <a:latin typeface="Lato"/>
                <a:ea typeface="Lato"/>
                <a:cs typeface="Lato"/>
              </a:rPr>
              <a:t>Ocena nawierzchni przed wybraniem drogi.</a:t>
            </a:r>
          </a:p>
        </p:txBody>
      </p:sp>
      <p:sp>
        <p:nvSpPr>
          <p:cNvPr id="9" name="Rowerzysta">
            <a:extLst xmlns:a="http://schemas.openxmlformats.org/drawingml/2006/main">
              <a:ext uri="{FF2B5EF4-FFF2-40B4-BE49-F238E27FC236}">
                <a16:creationId xmlns:a16="http://schemas.microsoft.com/office/drawing/2014/main" id="{01787329-4D67-4F2E-A699-6F15D0408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7239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B23"/>
                </a:solidFill>
                <a:latin typeface="Lato"/>
                <a:ea typeface="Lato"/>
                <a:cs typeface="Lato"/>
              </a:defRPr>
            </a:pPr>
            <a:r>
              <a:rPr sz="1950" b="1">
                <a:solidFill>
                  <a:srgbClr val="182B23"/>
                </a:solidFill>
                <a:latin typeface="Lato"/>
                <a:ea typeface="Lato"/>
                <a:cs typeface="Lato"/>
              </a:rPr>
              <a:t>Rowerzysta</a:t>
            </a:r>
          </a:p>
        </p:txBody>
      </p:sp>
      <p:sp>
        <p:nvSpPr>
          <p:cNvPr id="10" name="Trasa dopasowana do poziomu wysiłku.">
            <a:extLst xmlns:a="http://schemas.openxmlformats.org/drawingml/2006/main">
              <a:ext uri="{FF2B5EF4-FFF2-40B4-BE49-F238E27FC236}">
                <a16:creationId xmlns:a16="http://schemas.microsoft.com/office/drawing/2014/main" id="{9D5F1094-3099-4F11-9B9D-BCF52266F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733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6766A"/>
                </a:solidFill>
                <a:latin typeface="Lato"/>
                <a:ea typeface="Lato"/>
                <a:cs typeface="Lato"/>
              </a:defRPr>
            </a:pPr>
            <a:r>
              <a:rPr sz="1725" b="0">
                <a:solidFill>
                  <a:srgbClr val="66766A"/>
                </a:solidFill>
                <a:latin typeface="Lato"/>
                <a:ea typeface="Lato"/>
                <a:cs typeface="Lato"/>
              </a:rPr>
              <a:t>Trasa dopasowana do poziomu wysiłku.</a:t>
            </a:r>
          </a:p>
        </p:txBody>
      </p:sp>
      <p:sp>
        <p:nvSpPr>
          <p:cNvPr id="11" name="Przystanek w podróży">
            <a:extLst xmlns:a="http://schemas.openxmlformats.org/drawingml/2006/main">
              <a:ext uri="{FF2B5EF4-FFF2-40B4-BE49-F238E27FC236}">
                <a16:creationId xmlns:a16="http://schemas.microsoft.com/office/drawing/2014/main" id="{30920F22-310F-4B3B-AE28-1B2DCED33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05425"/>
            <a:ext cx="7239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B23"/>
                </a:solidFill>
                <a:latin typeface="Lato"/>
                <a:ea typeface="Lato"/>
                <a:cs typeface="Lato"/>
              </a:defRPr>
            </a:pPr>
            <a:r>
              <a:rPr sz="1950" b="1">
                <a:solidFill>
                  <a:srgbClr val="182B23"/>
                </a:solidFill>
                <a:latin typeface="Lato"/>
                <a:ea typeface="Lato"/>
                <a:cs typeface="Lato"/>
              </a:rPr>
              <a:t>Przystanek w podróży</a:t>
            </a:r>
          </a:p>
        </p:txBody>
      </p:sp>
      <p:sp>
        <p:nvSpPr>
          <p:cNvPr id="12" name="Asystent proponuje cel, silnik oblicza dojście.">
            <a:extLst xmlns:a="http://schemas.openxmlformats.org/drawingml/2006/main">
              <a:ext uri="{FF2B5EF4-FFF2-40B4-BE49-F238E27FC236}">
                <a16:creationId xmlns:a16="http://schemas.microsoft.com/office/drawing/2014/main" id="{73DAECF7-9FB0-455B-8D4C-E49B95EF3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733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6766A"/>
                </a:solidFill>
                <a:latin typeface="Lato"/>
                <a:ea typeface="Lato"/>
                <a:cs typeface="Lato"/>
              </a:defRPr>
            </a:pPr>
            <a:r>
              <a:rPr sz="1725" b="0">
                <a:solidFill>
                  <a:srgbClr val="66766A"/>
                </a:solidFill>
                <a:latin typeface="Lato"/>
                <a:ea typeface="Lato"/>
                <a:cs typeface="Lato"/>
              </a:rPr>
              <a:t>Asystent proponuje cel, silnik oblicza dojście.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0ab71c76884476"/>
          <a:stretch xmlns:a="http://schemas.openxmlformats.org/drawingml/2006/main"/>
        </p:blipFill>
        <p:spPr>
          <a:xfrm xmlns:a="http://schemas.openxmlformats.org/drawingml/2006/main">
            <a:off x="8867775" y="910258"/>
            <a:ext cx="2495550" cy="540896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37668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82B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pewnyszlak.">
            <a:extLst xmlns:a="http://schemas.openxmlformats.org/drawingml/2006/main">
              <a:ext uri="{FF2B5EF4-FFF2-40B4-BE49-F238E27FC236}">
                <a16:creationId xmlns:a16="http://schemas.microsoft.com/office/drawing/2014/main" id="{3884A28D-E050-4D72-9F53-5008E6C4F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D1F28E"/>
                </a:solidFill>
                <a:latin typeface="Lato"/>
                <a:ea typeface="Lato"/>
                <a:cs typeface="Lato"/>
              </a:defRPr>
            </a:pPr>
            <a:r>
              <a:rPr sz="1875" b="1">
                <a:solidFill>
                  <a:srgbClr val="D1F28E"/>
                </a:solidFill>
                <a:latin typeface="Lato"/>
                <a:ea typeface="Lato"/>
                <a:cs typeface="Lato"/>
              </a:rPr>
              <a:t>pewnyszlak.</a:t>
            </a:r>
          </a:p>
        </p:txBody>
      </p:sp>
      <p:sp>
        <p:nvSpPr>
          <p:cNvPr id="2" name="SAR-1 · DEMONSTRACJA WARSTWY RADAROWEJ">
            <a:extLst xmlns:a="http://schemas.openxmlformats.org/drawingml/2006/main">
              <a:ext uri="{FF2B5EF4-FFF2-40B4-BE49-F238E27FC236}">
                <a16:creationId xmlns:a16="http://schemas.microsoft.com/office/drawing/2014/main" id="{B23E9F1C-880B-40CB-91D4-779798695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1075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6C5B4"/>
                </a:solidFill>
                <a:latin typeface="Lato"/>
                <a:ea typeface="Lato"/>
                <a:cs typeface="Lato"/>
              </a:defRPr>
            </a:pPr>
            <a:r>
              <a:rPr sz="1200" b="1">
                <a:solidFill>
                  <a:srgbClr val="B6C5B4"/>
                </a:solidFill>
                <a:latin typeface="Lato"/>
                <a:ea typeface="Lato"/>
                <a:cs typeface="Lato"/>
              </a:rPr>
              <a:t>SAR-1 · DEMONSTRACJA WARSTWY RADAROWEJ</a:t>
            </a:r>
          </a:p>
        </p:txBody>
      </p:sp>
      <p:sp>
        <p:nvSpPr>
          <p:cNvPr id="3" name="06 / 10">
            <a:extLst xmlns:a="http://schemas.openxmlformats.org/drawingml/2006/main">
              <a:ext uri="{FF2B5EF4-FFF2-40B4-BE49-F238E27FC236}">
                <a16:creationId xmlns:a16="http://schemas.microsoft.com/office/drawing/2014/main" id="{78FBB032-270A-4AFE-BCD1-36EF767C1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6457950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B6C5B4"/>
                </a:solidFill>
                <a:latin typeface="Lato"/>
                <a:ea typeface="Lato"/>
                <a:cs typeface="Lato"/>
              </a:defRPr>
            </a:pPr>
            <a:r>
              <a:rPr sz="975" b="0">
                <a:solidFill>
                  <a:srgbClr val="B6C5B4"/>
                </a:solidFill>
                <a:latin typeface="Lato"/>
                <a:ea typeface="Lato"/>
                <a:cs typeface="Lato"/>
              </a:rPr>
              <a:t>06 / 10</a:t>
            </a:r>
          </a:p>
        </p:txBody>
      </p:sp>
      <p:sp>
        <p:nvSpPr>
          <p:cNvPr id="4" name="Sygnał zmiany wskazuje,&#10;gdzie warto sprawdzić trasę">
            <a:extLst xmlns:a="http://schemas.openxmlformats.org/drawingml/2006/main">
              <a:ext uri="{FF2B5EF4-FFF2-40B4-BE49-F238E27FC236}">
                <a16:creationId xmlns:a16="http://schemas.microsoft.com/office/drawing/2014/main" id="{84E1FFF7-A4D5-49AC-9702-41791F4F8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47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825" b="1">
                <a:solidFill>
                  <a:srgbClr val="F6F5EE"/>
                </a:solidFill>
                <a:latin typeface="Lato"/>
                <a:ea typeface="Lato"/>
                <a:cs typeface="Lato"/>
              </a:defRPr>
            </a:pPr>
            <a:r>
              <a:rPr sz="3825" b="1">
                <a:solidFill>
                  <a:srgbClr val="F6F5EE"/>
                </a:solidFill>
                <a:latin typeface="Lato"/>
                <a:ea typeface="Lato"/>
                <a:cs typeface="Lato"/>
              </a:rPr>
              <a:t>Sygnał zmiany wskazuje,</a:t>
            </a:r>
          </a:p>
          <a:p xmlns:a="http://schemas.openxmlformats.org/drawingml/2006/main">
            <a:pPr>
              <a:defRPr sz="3825" b="1">
                <a:solidFill>
                  <a:srgbClr val="F6F5EE"/>
                </a:solidFill>
                <a:latin typeface="Lato"/>
                <a:ea typeface="Lato"/>
                <a:cs typeface="Lato"/>
              </a:defRPr>
            </a:pPr>
            <a:r>
              <a:rPr sz="3825" b="1">
                <a:solidFill>
                  <a:srgbClr val="F6F5EE"/>
                </a:solidFill>
                <a:latin typeface="Lato"/>
                <a:ea typeface="Lato"/>
                <a:cs typeface="Lato"/>
              </a:rPr>
              <a:t>gdzie warto sprawdzić trasę</a:t>
            </a:r>
          </a:p>
        </p:txBody>
      </p:sp>
      <p:sp>
        <p:nvSpPr>
          <p:cNvPr id="5" name="RADAR">
            <a:extLst xmlns:a="http://schemas.openxmlformats.org/drawingml/2006/main">
              <a:ext uri="{FF2B5EF4-FFF2-40B4-BE49-F238E27FC236}">
                <a16:creationId xmlns:a16="http://schemas.microsoft.com/office/drawing/2014/main" id="{50A396E9-084A-4389-9C9A-569618ACE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71825"/>
            <a:ext cx="3733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975" b="1">
                <a:solidFill>
                  <a:srgbClr val="D1F28E"/>
                </a:solidFill>
                <a:latin typeface="Lato"/>
                <a:ea typeface="Lato"/>
                <a:cs typeface="Lato"/>
              </a:defRPr>
            </a:pPr>
            <a:r>
              <a:rPr sz="3975" b="1">
                <a:solidFill>
                  <a:srgbClr val="D1F28E"/>
                </a:solidFill>
                <a:latin typeface="Lato"/>
                <a:ea typeface="Lato"/>
                <a:cs typeface="Lato"/>
              </a:rPr>
              <a:t>RADAR</a:t>
            </a:r>
          </a:p>
        </p:txBody>
      </p:sp>
      <p:sp>
        <p:nvSpPr>
          <p:cNvPr id="6" name="Obserwacje tego samego obszaru&#10;w różnych terminach mogą wska">
            <a:extLst xmlns:a="http://schemas.openxmlformats.org/drawingml/2006/main">
              <a:ext uri="{FF2B5EF4-FFF2-40B4-BE49-F238E27FC236}">
                <a16:creationId xmlns:a16="http://schemas.microsoft.com/office/drawing/2014/main" id="{1ACC6020-9D35-452B-9DE2-BE36F7158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0025"/>
            <a:ext cx="482917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B6C5B4"/>
                </a:solidFill>
                <a:latin typeface="Lato"/>
                <a:ea typeface="Lato"/>
                <a:cs typeface="Lato"/>
              </a:defRPr>
            </a:pPr>
            <a:r>
              <a:rPr sz="2025" b="0">
                <a:solidFill>
                  <a:srgbClr val="B6C5B4"/>
                </a:solidFill>
                <a:latin typeface="Lato"/>
                <a:ea typeface="Lato"/>
                <a:cs typeface="Lato"/>
              </a:rPr>
              <a:t>Obserwacje tego samego obszaru</a:t>
            </a:r>
          </a:p>
          <a:p xmlns:a="http://schemas.openxmlformats.org/drawingml/2006/main">
            <a:pPr>
              <a:defRPr sz="2025" b="0">
                <a:solidFill>
                  <a:srgbClr val="B6C5B4"/>
                </a:solidFill>
                <a:latin typeface="Lato"/>
                <a:ea typeface="Lato"/>
                <a:cs typeface="Lato"/>
              </a:defRPr>
            </a:pPr>
            <a:r>
              <a:rPr sz="2025" b="0">
                <a:solidFill>
                  <a:srgbClr val="B6C5B4"/>
                </a:solidFill>
                <a:latin typeface="Lato"/>
                <a:ea typeface="Lato"/>
                <a:cs typeface="Lato"/>
              </a:rPr>
              <a:t>w różnych terminach mogą wskazać</a:t>
            </a:r>
          </a:p>
          <a:p xmlns:a="http://schemas.openxmlformats.org/drawingml/2006/main">
            <a:pPr>
              <a:defRPr sz="2025" b="0">
                <a:solidFill>
                  <a:srgbClr val="B6C5B4"/>
                </a:solidFill>
                <a:latin typeface="Lato"/>
                <a:ea typeface="Lato"/>
                <a:cs typeface="Lato"/>
              </a:defRPr>
            </a:pPr>
            <a:r>
              <a:rPr sz="2025" b="0">
                <a:solidFill>
                  <a:srgbClr val="B6C5B4"/>
                </a:solidFill>
                <a:latin typeface="Lato"/>
                <a:ea typeface="Lato"/>
                <a:cs typeface="Lato"/>
              </a:rPr>
              <a:t>zmianę wymagającą kontroli.</a:t>
            </a:r>
          </a:p>
        </p:txBody>
      </p:sp>
      <p:sp>
        <p:nvSpPr>
          <p:cNvPr id="7" name="01">
            <a:extLst xmlns:a="http://schemas.openxmlformats.org/drawingml/2006/main">
              <a:ext uri="{FF2B5EF4-FFF2-40B4-BE49-F238E27FC236}">
                <a16:creationId xmlns:a16="http://schemas.microsoft.com/office/drawing/2014/main" id="{4FB32B61-8950-41ED-A01C-16B528C79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962275"/>
            <a:ext cx="6000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D1F28E"/>
                </a:solidFill>
                <a:latin typeface="Lato"/>
                <a:ea typeface="Lato"/>
                <a:cs typeface="Lato"/>
              </a:defRPr>
            </a:pPr>
            <a:r>
              <a:rPr sz="2250" b="1">
                <a:solidFill>
                  <a:srgbClr val="D1F28E"/>
                </a:solidFill>
                <a:latin typeface="Lato"/>
                <a:ea typeface="Lato"/>
                <a:cs typeface="Lato"/>
              </a:rPr>
              <a:t>01</a:t>
            </a:r>
          </a:p>
        </p:txBody>
      </p:sp>
      <p:sp>
        <p:nvSpPr>
          <p:cNvPr id="8" name="Porównanie obserwacji">
            <a:extLst xmlns:a="http://schemas.openxmlformats.org/drawingml/2006/main">
              <a:ext uri="{FF2B5EF4-FFF2-40B4-BE49-F238E27FC236}">
                <a16:creationId xmlns:a16="http://schemas.microsoft.com/office/drawing/2014/main" id="{C2C0D7FE-6236-4931-A798-82C484157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2943225"/>
            <a:ext cx="411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6F5EE"/>
                </a:solidFill>
                <a:latin typeface="Lato"/>
                <a:ea typeface="Lato"/>
                <a:cs typeface="Lato"/>
              </a:defRPr>
            </a:pPr>
            <a:r>
              <a:rPr sz="2025" b="1">
                <a:solidFill>
                  <a:srgbClr val="F6F5EE"/>
                </a:solidFill>
                <a:latin typeface="Lato"/>
                <a:ea typeface="Lato"/>
                <a:cs typeface="Lato"/>
              </a:rPr>
              <a:t>Porównanie obserwacji</a:t>
            </a:r>
          </a:p>
        </p:txBody>
      </p:sp>
      <p:sp>
        <p:nvSpPr>
          <p:cNvPr id="9" name="Zmiana obrazu obszaru">
            <a:extLst xmlns:a="http://schemas.openxmlformats.org/drawingml/2006/main">
              <a:ext uri="{FF2B5EF4-FFF2-40B4-BE49-F238E27FC236}">
                <a16:creationId xmlns:a16="http://schemas.microsoft.com/office/drawing/2014/main" id="{9D236EDF-6124-40A0-83BC-C200DBA74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343275"/>
            <a:ext cx="4095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B6C5B4"/>
                </a:solidFill>
                <a:latin typeface="Lato"/>
                <a:ea typeface="Lato"/>
                <a:cs typeface="Lato"/>
              </a:defRPr>
            </a:pPr>
            <a:r>
              <a:rPr sz="1725" b="0">
                <a:solidFill>
                  <a:srgbClr val="B6C5B4"/>
                </a:solidFill>
                <a:latin typeface="Lato"/>
                <a:ea typeface="Lato"/>
                <a:cs typeface="Lato"/>
              </a:rPr>
              <a:t>Zmiana obrazu obszaru</a:t>
            </a:r>
          </a:p>
        </p:txBody>
      </p:sp>
      <p:sp>
        <p:nvSpPr>
          <p:cNvPr id="10" name="02">
            <a:extLst xmlns:a="http://schemas.openxmlformats.org/drawingml/2006/main">
              <a:ext uri="{FF2B5EF4-FFF2-40B4-BE49-F238E27FC236}">
                <a16:creationId xmlns:a16="http://schemas.microsoft.com/office/drawing/2014/main" id="{F14057CD-D344-4A13-B3EF-5EB940ECB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971925"/>
            <a:ext cx="6000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D1F28E"/>
                </a:solidFill>
                <a:latin typeface="Lato"/>
                <a:ea typeface="Lato"/>
                <a:cs typeface="Lato"/>
              </a:defRPr>
            </a:pPr>
            <a:r>
              <a:rPr sz="2250" b="1">
                <a:solidFill>
                  <a:srgbClr val="D1F28E"/>
                </a:solidFill>
                <a:latin typeface="Lato"/>
                <a:ea typeface="Lato"/>
                <a:cs typeface="Lato"/>
              </a:rPr>
              <a:t>02</a:t>
            </a:r>
          </a:p>
        </p:txBody>
      </p:sp>
      <p:sp>
        <p:nvSpPr>
          <p:cNvPr id="11" name="Sygnał na mapie">
            <a:extLst xmlns:a="http://schemas.openxmlformats.org/drawingml/2006/main">
              <a:ext uri="{FF2B5EF4-FFF2-40B4-BE49-F238E27FC236}">
                <a16:creationId xmlns:a16="http://schemas.microsoft.com/office/drawing/2014/main" id="{DC90EC5A-441C-4441-BEAE-71584E002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952875"/>
            <a:ext cx="411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6F5EE"/>
                </a:solidFill>
                <a:latin typeface="Lato"/>
                <a:ea typeface="Lato"/>
                <a:cs typeface="Lato"/>
              </a:defRPr>
            </a:pPr>
            <a:r>
              <a:rPr sz="2025" b="1">
                <a:solidFill>
                  <a:srgbClr val="F6F5EE"/>
                </a:solidFill>
                <a:latin typeface="Lato"/>
                <a:ea typeface="Lato"/>
                <a:cs typeface="Lato"/>
              </a:rPr>
              <a:t>Sygnał na mapie</a:t>
            </a:r>
          </a:p>
        </p:txBody>
      </p:sp>
      <p:sp>
        <p:nvSpPr>
          <p:cNvPr id="12" name="Miejsce do sprawdzenia">
            <a:extLst xmlns:a="http://schemas.openxmlformats.org/drawingml/2006/main">
              <a:ext uri="{FF2B5EF4-FFF2-40B4-BE49-F238E27FC236}">
                <a16:creationId xmlns:a16="http://schemas.microsoft.com/office/drawing/2014/main" id="{C67C761C-EAF1-4C91-92E9-2A26C93A8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4352925"/>
            <a:ext cx="4095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B6C5B4"/>
                </a:solidFill>
                <a:latin typeface="Lato"/>
                <a:ea typeface="Lato"/>
                <a:cs typeface="Lato"/>
              </a:defRPr>
            </a:pPr>
            <a:r>
              <a:rPr sz="1725" b="0">
                <a:solidFill>
                  <a:srgbClr val="B6C5B4"/>
                </a:solidFill>
                <a:latin typeface="Lato"/>
                <a:ea typeface="Lato"/>
                <a:cs typeface="Lato"/>
              </a:rPr>
              <a:t>Miejsce do sprawdzenia</a:t>
            </a:r>
          </a:p>
        </p:txBody>
      </p:sp>
      <p:sp>
        <p:nvSpPr>
          <p:cNvPr id="13" name="03">
            <a:extLst xmlns:a="http://schemas.openxmlformats.org/drawingml/2006/main">
              <a:ext uri="{FF2B5EF4-FFF2-40B4-BE49-F238E27FC236}">
                <a16:creationId xmlns:a16="http://schemas.microsoft.com/office/drawing/2014/main" id="{F08DDC37-29E3-4AFB-9127-D84B8391D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981575"/>
            <a:ext cx="6000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D1F28E"/>
                </a:solidFill>
                <a:latin typeface="Lato"/>
                <a:ea typeface="Lato"/>
                <a:cs typeface="Lato"/>
              </a:defRPr>
            </a:pPr>
            <a:r>
              <a:rPr sz="2250" b="1">
                <a:solidFill>
                  <a:srgbClr val="D1F28E"/>
                </a:solidFill>
                <a:latin typeface="Lato"/>
                <a:ea typeface="Lato"/>
                <a:cs typeface="Lato"/>
              </a:rPr>
              <a:t>03</a:t>
            </a:r>
          </a:p>
        </p:txBody>
      </p:sp>
      <p:sp>
        <p:nvSpPr>
          <p:cNvPr id="14" name="Kontrola źródeł i terenu">
            <a:extLst xmlns:a="http://schemas.openxmlformats.org/drawingml/2006/main">
              <a:ext uri="{FF2B5EF4-FFF2-40B4-BE49-F238E27FC236}">
                <a16:creationId xmlns:a16="http://schemas.microsoft.com/office/drawing/2014/main" id="{8AAA1474-4FFB-4136-874A-BAF14EC35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4962525"/>
            <a:ext cx="411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6F5EE"/>
                </a:solidFill>
                <a:latin typeface="Lato"/>
                <a:ea typeface="Lato"/>
                <a:cs typeface="Lato"/>
              </a:defRPr>
            </a:pPr>
            <a:r>
              <a:rPr sz="2025" b="1">
                <a:solidFill>
                  <a:srgbClr val="F6F5EE"/>
                </a:solidFill>
                <a:latin typeface="Lato"/>
                <a:ea typeface="Lato"/>
                <a:cs typeface="Lato"/>
              </a:rPr>
              <a:t>Kontrola źródeł i terenu</a:t>
            </a:r>
          </a:p>
        </p:txBody>
      </p:sp>
      <p:sp>
        <p:nvSpPr>
          <p:cNvPr id="15" name="Dopiero potem status bariery">
            <a:extLst xmlns:a="http://schemas.openxmlformats.org/drawingml/2006/main">
              <a:ext uri="{FF2B5EF4-FFF2-40B4-BE49-F238E27FC236}">
                <a16:creationId xmlns:a16="http://schemas.microsoft.com/office/drawing/2014/main" id="{2A70664A-23AD-436C-9767-8C5E86FC4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5362575"/>
            <a:ext cx="4095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B6C5B4"/>
                </a:solidFill>
                <a:latin typeface="Lato"/>
                <a:ea typeface="Lato"/>
                <a:cs typeface="Lato"/>
              </a:defRPr>
            </a:pPr>
            <a:r>
              <a:rPr sz="1725" b="0">
                <a:solidFill>
                  <a:srgbClr val="B6C5B4"/>
                </a:solidFill>
                <a:latin typeface="Lato"/>
                <a:ea typeface="Lato"/>
                <a:cs typeface="Lato"/>
              </a:rPr>
              <a:t>Dopiero potem status bariery</a:t>
            </a:r>
          </a:p>
        </p:txBody>
      </p:sp>
      <p:sp>
        <p:nvSpPr>
          <p:cNvPr id="16" name="W pitchu pokazujemy symulowane sygnały SAR-1.&#10;Radar nie mier">
            <a:extLst xmlns:a="http://schemas.openxmlformats.org/drawingml/2006/main">
              <a:ext uri="{FF2B5EF4-FFF2-40B4-BE49-F238E27FC236}">
                <a16:creationId xmlns:a16="http://schemas.microsoft.com/office/drawing/2014/main" id="{70912761-BF5F-41A3-9DC7-BB7A48725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10477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D1F28E"/>
                </a:solidFill>
                <a:latin typeface="Lato"/>
                <a:ea typeface="Lato"/>
                <a:cs typeface="Lato"/>
              </a:defRPr>
            </a:pPr>
            <a:r>
              <a:rPr sz="1725" b="0">
                <a:solidFill>
                  <a:srgbClr val="D1F28E"/>
                </a:solidFill>
                <a:latin typeface="Lato"/>
                <a:ea typeface="Lato"/>
                <a:cs typeface="Lato"/>
              </a:rPr>
              <a:t>W pitchu pokazujemy symulowane sygnały SAR-1.</a:t>
            </a:r>
          </a:p>
          <a:p xmlns:a="http://schemas.openxmlformats.org/drawingml/2006/main">
            <a:pPr>
              <a:defRPr sz="1725" b="0">
                <a:solidFill>
                  <a:srgbClr val="D1F28E"/>
                </a:solidFill>
                <a:latin typeface="Lato"/>
                <a:ea typeface="Lato"/>
                <a:cs typeface="Lato"/>
              </a:defRPr>
            </a:pPr>
            <a:r>
              <a:rPr sz="1725" b="0">
                <a:solidFill>
                  <a:srgbClr val="D1F28E"/>
                </a:solidFill>
                <a:latin typeface="Lato"/>
                <a:ea typeface="Lato"/>
                <a:cs typeface="Lato"/>
              </a:rPr>
              <a:t>Radar nie mierzy krawężników ani nie potwierdza przejezdności.</a:t>
            </a:r>
          </a:p>
        </p:txBody>
      </p:sp>
    </p:spTree>
    <p:extLst>
      <p:ext uri="{BB962C8B-B14F-4D97-AF65-F5344CB8AC3E}">
        <p14:creationId xmlns:p14="http://schemas.microsoft.com/office/powerpoint/2010/main" val="201322037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ewnyszlak.">
            <a:extLst xmlns:a="http://schemas.openxmlformats.org/drawingml/2006/main">
              <a:ext uri="{FF2B5EF4-FFF2-40B4-BE49-F238E27FC236}">
                <a16:creationId xmlns:a16="http://schemas.microsoft.com/office/drawing/2014/main" id="{2071FD6B-6A1D-41BF-B70E-2103E6422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315A43"/>
                </a:solidFill>
                <a:latin typeface="Lato"/>
                <a:ea typeface="Lato"/>
                <a:cs typeface="Lato"/>
              </a:defRPr>
            </a:pPr>
            <a:r>
              <a:rPr sz="1875" b="1">
                <a:solidFill>
                  <a:srgbClr val="315A43"/>
                </a:solidFill>
                <a:latin typeface="Lato"/>
                <a:ea typeface="Lato"/>
                <a:cs typeface="Lato"/>
              </a:rPr>
              <a:t>pewnyszlak.</a:t>
            </a:r>
          </a:p>
        </p:txBody>
      </p:sp>
      <p:sp>
        <p:nvSpPr>
          <p:cNvPr id="2" name="LIDAR · MOCK DOKŁADNIEJSZEGO PROFILU TERENU">
            <a:extLst xmlns:a="http://schemas.openxmlformats.org/drawingml/2006/main">
              <a:ext uri="{FF2B5EF4-FFF2-40B4-BE49-F238E27FC236}">
                <a16:creationId xmlns:a16="http://schemas.microsoft.com/office/drawing/2014/main" id="{66235AE7-91A0-4779-87B1-14D6D4623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1075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6766A"/>
                </a:solidFill>
                <a:latin typeface="Lato"/>
                <a:ea typeface="Lato"/>
                <a:cs typeface="Lato"/>
              </a:defRPr>
            </a:pPr>
            <a:r>
              <a:rPr sz="1200" b="1">
                <a:solidFill>
                  <a:srgbClr val="66766A"/>
                </a:solidFill>
                <a:latin typeface="Lato"/>
                <a:ea typeface="Lato"/>
                <a:cs typeface="Lato"/>
              </a:rPr>
              <a:t>LIDAR · MOCK DOKŁADNIEJSZEGO PROFILU TERENU</a:t>
            </a:r>
          </a:p>
        </p:txBody>
      </p:sp>
      <p:sp>
        <p:nvSpPr>
          <p:cNvPr id="3" name="07 / 10">
            <a:extLst xmlns:a="http://schemas.openxmlformats.org/drawingml/2006/main">
              <a:ext uri="{FF2B5EF4-FFF2-40B4-BE49-F238E27FC236}">
                <a16:creationId xmlns:a16="http://schemas.microsoft.com/office/drawing/2014/main" id="{CFCB1A46-E36C-4028-BF3E-7B1158C97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6457950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6766A"/>
                </a:solidFill>
                <a:latin typeface="Lato"/>
                <a:ea typeface="Lato"/>
                <a:cs typeface="Lato"/>
              </a:defRPr>
            </a:pPr>
            <a:r>
              <a:rPr sz="975" b="0">
                <a:solidFill>
                  <a:srgbClr val="66766A"/>
                </a:solidFill>
                <a:latin typeface="Lato"/>
                <a:ea typeface="Lato"/>
                <a:cs typeface="Lato"/>
              </a:rPr>
              <a:t>07 / 10</a:t>
            </a:r>
          </a:p>
        </p:txBody>
      </p:sp>
      <p:sp>
        <p:nvSpPr>
          <p:cNvPr id="4" name="Wysokość terenu&#10;zmienia wybór odcinka">
            <a:extLst xmlns:a="http://schemas.openxmlformats.org/drawingml/2006/main">
              <a:ext uri="{FF2B5EF4-FFF2-40B4-BE49-F238E27FC236}">
                <a16:creationId xmlns:a16="http://schemas.microsoft.com/office/drawing/2014/main" id="{451A0FD8-FD07-4697-8754-6D24548CE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668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825" b="1">
                <a:solidFill>
                  <a:srgbClr val="182B23"/>
                </a:solidFill>
                <a:latin typeface="Lato"/>
                <a:ea typeface="Lato"/>
                <a:cs typeface="Lato"/>
              </a:defRPr>
            </a:pPr>
            <a:r>
              <a:rPr sz="3825" b="1">
                <a:solidFill>
                  <a:srgbClr val="182B23"/>
                </a:solidFill>
                <a:latin typeface="Lato"/>
                <a:ea typeface="Lato"/>
                <a:cs typeface="Lato"/>
              </a:rPr>
              <a:t>Wysokość terenu</a:t>
            </a:r>
          </a:p>
          <a:p xmlns:a="http://schemas.openxmlformats.org/drawingml/2006/main">
            <a:pPr>
              <a:defRPr sz="3825" b="1">
                <a:solidFill>
                  <a:srgbClr val="182B23"/>
                </a:solidFill>
                <a:latin typeface="Lato"/>
                <a:ea typeface="Lato"/>
                <a:cs typeface="Lato"/>
              </a:defRPr>
            </a:pPr>
            <a:r>
              <a:rPr sz="3825" b="1">
                <a:solidFill>
                  <a:srgbClr val="182B23"/>
                </a:solidFill>
                <a:latin typeface="Lato"/>
                <a:ea typeface="Lato"/>
                <a:cs typeface="Lato"/>
              </a:rPr>
              <a:t>zmienia wybór odcinka</a:t>
            </a:r>
          </a:p>
        </p:txBody>
      </p:sp>
      <p:sp>
        <p:nvSpPr>
          <p:cNvPr id="5" name="PRZYKŁAD SYMULOWANY">
            <a:extLst xmlns:a="http://schemas.openxmlformats.org/drawingml/2006/main">
              <a:ext uri="{FF2B5EF4-FFF2-40B4-BE49-F238E27FC236}">
                <a16:creationId xmlns:a16="http://schemas.microsoft.com/office/drawing/2014/main" id="{979FB8C9-B914-4FAB-9486-75D72326B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71775"/>
            <a:ext cx="7010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6766A"/>
                </a:solidFill>
                <a:latin typeface="Lato"/>
                <a:ea typeface="Lato"/>
                <a:cs typeface="Lato"/>
              </a:defRPr>
            </a:pPr>
            <a:r>
              <a:rPr sz="1200" b="1">
                <a:solidFill>
                  <a:srgbClr val="66766A"/>
                </a:solidFill>
                <a:latin typeface="Lato"/>
                <a:ea typeface="Lato"/>
                <a:cs typeface="Lato"/>
              </a:rPr>
              <a:t>PRZYKŁAD SYMULOWANY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571500" y="3219450"/>
          <a:ext xmlns:a="http://schemas.openxmlformats.org/drawingml/2006/main" cx="6781800" cy="2743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8a27cbe91994654"/>
          </a:graphicData>
        </a:graphic>
      </p:graphicFrame>
      <p:sp>
        <p:nvSpPr>
          <p:cNvPr id="7" name="10%">
            <a:extLst xmlns:a="http://schemas.openxmlformats.org/drawingml/2006/main">
              <a:ext uri="{FF2B5EF4-FFF2-40B4-BE49-F238E27FC236}">
                <a16:creationId xmlns:a16="http://schemas.microsoft.com/office/drawing/2014/main" id="{C5FBD289-EDA4-4031-8C89-6226D5141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171825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725" b="1">
                <a:solidFill>
                  <a:srgbClr val="CA5D48"/>
                </a:solidFill>
                <a:latin typeface="Lato"/>
                <a:ea typeface="Lato"/>
                <a:cs typeface="Lato"/>
              </a:defRPr>
            </a:pPr>
            <a:r>
              <a:rPr sz="4725" b="1">
                <a:solidFill>
                  <a:srgbClr val="CA5D48"/>
                </a:solidFill>
                <a:latin typeface="Lato"/>
                <a:ea typeface="Lato"/>
                <a:cs typeface="Lato"/>
              </a:rPr>
              <a:t>10%</a:t>
            </a:r>
          </a:p>
        </p:txBody>
      </p:sp>
      <p:sp>
        <p:nvSpPr>
          <p:cNvPr id="8" name="3 m wzniosu na 30 m&#10;Powyżej przykładowego limitu 6%.">
            <a:extLst xmlns:a="http://schemas.openxmlformats.org/drawingml/2006/main">
              <a:ext uri="{FF2B5EF4-FFF2-40B4-BE49-F238E27FC236}">
                <a16:creationId xmlns:a16="http://schemas.microsoft.com/office/drawing/2014/main" id="{CBDB1D18-435A-425B-9737-5611F6814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971925"/>
            <a:ext cx="320992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6766A"/>
                </a:solidFill>
                <a:latin typeface="Lato"/>
                <a:ea typeface="Lato"/>
                <a:cs typeface="Lato"/>
              </a:defRPr>
            </a:pPr>
            <a:r>
              <a:rPr sz="1800" b="0">
                <a:solidFill>
                  <a:srgbClr val="66766A"/>
                </a:solidFill>
                <a:latin typeface="Lato"/>
                <a:ea typeface="Lato"/>
                <a:cs typeface="Lato"/>
              </a:rPr>
              <a:t>3 m wzniosu na 30 m</a:t>
            </a:r>
          </a:p>
          <a:p xmlns:a="http://schemas.openxmlformats.org/drawingml/2006/main">
            <a:pPr>
              <a:defRPr sz="1800" b="0">
                <a:solidFill>
                  <a:srgbClr val="66766A"/>
                </a:solidFill>
                <a:latin typeface="Lato"/>
                <a:ea typeface="Lato"/>
                <a:cs typeface="Lato"/>
              </a:defRPr>
            </a:pPr>
            <a:r>
              <a:rPr sz="1800" b="0">
                <a:solidFill>
                  <a:srgbClr val="66766A"/>
                </a:solidFill>
                <a:latin typeface="Lato"/>
                <a:ea typeface="Lato"/>
                <a:cs typeface="Lato"/>
              </a:rPr>
              <a:t>Powyżej przykładowego limitu 6%.</a:t>
            </a:r>
          </a:p>
        </p:txBody>
      </p:sp>
      <p:sp>
        <p:nvSpPr>
          <p:cNvPr id="9" name="4%">
            <a:extLst xmlns:a="http://schemas.openxmlformats.org/drawingml/2006/main">
              <a:ext uri="{FF2B5EF4-FFF2-40B4-BE49-F238E27FC236}">
                <a16:creationId xmlns:a16="http://schemas.microsoft.com/office/drawing/2014/main" id="{958F7B50-4FA8-4506-A7F6-803D25632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933950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725" b="1">
                <a:solidFill>
                  <a:srgbClr val="315A43"/>
                </a:solidFill>
                <a:latin typeface="Lato"/>
                <a:ea typeface="Lato"/>
                <a:cs typeface="Lato"/>
              </a:defRPr>
            </a:pPr>
            <a:r>
              <a:rPr sz="4725" b="1">
                <a:solidFill>
                  <a:srgbClr val="315A43"/>
                </a:solidFill>
                <a:latin typeface="Lato"/>
                <a:ea typeface="Lato"/>
                <a:cs typeface="Lato"/>
              </a:rPr>
              <a:t>4%</a:t>
            </a:r>
          </a:p>
        </p:txBody>
      </p:sp>
      <p:sp>
        <p:nvSpPr>
          <p:cNvPr id="10" name="1,2 m wzniosu na 30 m&#10;Łagodniejszy wariant w symulacji.">
            <a:extLst xmlns:a="http://schemas.openxmlformats.org/drawingml/2006/main">
              <a:ext uri="{FF2B5EF4-FFF2-40B4-BE49-F238E27FC236}">
                <a16:creationId xmlns:a16="http://schemas.microsoft.com/office/drawing/2014/main" id="{3C86FFEF-BCC0-4393-9C8F-E063262B7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705475"/>
            <a:ext cx="3314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6766A"/>
                </a:solidFill>
                <a:latin typeface="Lato"/>
                <a:ea typeface="Lato"/>
                <a:cs typeface="Lato"/>
              </a:defRPr>
            </a:pPr>
            <a:r>
              <a:rPr sz="1650" b="0">
                <a:solidFill>
                  <a:srgbClr val="66766A"/>
                </a:solidFill>
                <a:latin typeface="Lato"/>
                <a:ea typeface="Lato"/>
                <a:cs typeface="Lato"/>
              </a:rPr>
              <a:t>1,2 m wzniosu na 30 m</a:t>
            </a:r>
          </a:p>
          <a:p xmlns:a="http://schemas.openxmlformats.org/drawingml/2006/main">
            <a:pPr>
              <a:defRPr sz="1650" b="0">
                <a:solidFill>
                  <a:srgbClr val="66766A"/>
                </a:solidFill>
                <a:latin typeface="Lato"/>
                <a:ea typeface="Lato"/>
                <a:cs typeface="Lato"/>
              </a:defRPr>
            </a:pPr>
            <a:r>
              <a:rPr sz="1650" b="0">
                <a:solidFill>
                  <a:srgbClr val="66766A"/>
                </a:solidFill>
                <a:latin typeface="Lato"/>
                <a:ea typeface="Lato"/>
                <a:cs typeface="Lato"/>
              </a:rPr>
              <a:t>Łagodniejszy wariant w symulacji.</a:t>
            </a:r>
          </a:p>
        </p:txBody>
      </p:sp>
      <p:sp>
        <p:nvSpPr>
          <p:cNvPr id="11" name="Prototyp ma klienta NMT GUGiK. Surowy LiDAR i jego wpływ na ">
            <a:extLst xmlns:a="http://schemas.openxmlformats.org/drawingml/2006/main">
              <a:ext uri="{FF2B5EF4-FFF2-40B4-BE49-F238E27FC236}">
                <a16:creationId xmlns:a16="http://schemas.microsoft.com/office/drawing/2014/main" id="{C9B19E4A-60FF-4C4F-A77B-7FAFBB72E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0300"/>
            <a:ext cx="9810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6766A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66766A"/>
                </a:solidFill>
                <a:latin typeface="Lato"/>
                <a:ea typeface="Lato"/>
                <a:cs typeface="Lato"/>
              </a:rPr>
              <a:t>Prototyp ma klienta NMT GUGiK. Surowy LiDAR i jego wpływ na routing pokazujemy jako mock.</a:t>
            </a:r>
          </a:p>
        </p:txBody>
      </p:sp>
    </p:spTree>
    <p:extLst>
      <p:ext uri="{BB962C8B-B14F-4D97-AF65-F5344CB8AC3E}">
        <p14:creationId xmlns:p14="http://schemas.microsoft.com/office/powerpoint/2010/main" val="133758118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pewnyszlak.">
            <a:extLst xmlns:a="http://schemas.openxmlformats.org/drawingml/2006/main">
              <a:ext uri="{FF2B5EF4-FFF2-40B4-BE49-F238E27FC236}">
                <a16:creationId xmlns:a16="http://schemas.microsoft.com/office/drawing/2014/main" id="{5876AAD1-7A7E-4BCD-B32B-E422EB60D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315A43"/>
                </a:solidFill>
                <a:latin typeface="Lato"/>
                <a:ea typeface="Lato"/>
                <a:cs typeface="Lato"/>
              </a:defRPr>
            </a:pPr>
            <a:r>
              <a:rPr sz="1875" b="1">
                <a:solidFill>
                  <a:srgbClr val="315A43"/>
                </a:solidFill>
                <a:latin typeface="Lato"/>
                <a:ea typeface="Lato"/>
                <a:cs typeface="Lato"/>
              </a:rPr>
              <a:t>pewnyszlak.</a:t>
            </a:r>
          </a:p>
        </p:txBody>
      </p:sp>
      <p:sp>
        <p:nvSpPr>
          <p:cNvPr id="2" name="TECHNOLOGIA I WIARYGODNOŚĆ">
            <a:extLst xmlns:a="http://schemas.openxmlformats.org/drawingml/2006/main">
              <a:ext uri="{FF2B5EF4-FFF2-40B4-BE49-F238E27FC236}">
                <a16:creationId xmlns:a16="http://schemas.microsoft.com/office/drawing/2014/main" id="{9D063508-C63F-4574-8A09-D53132CF1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1075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6766A"/>
                </a:solidFill>
                <a:latin typeface="Lato"/>
                <a:ea typeface="Lato"/>
                <a:cs typeface="Lato"/>
              </a:defRPr>
            </a:pPr>
            <a:r>
              <a:rPr sz="1200" b="1">
                <a:solidFill>
                  <a:srgbClr val="66766A"/>
                </a:solidFill>
                <a:latin typeface="Lato"/>
                <a:ea typeface="Lato"/>
                <a:cs typeface="Lato"/>
              </a:rPr>
              <a:t>TECHNOLOGIA I WIARYGODNOŚĆ</a:t>
            </a:r>
          </a:p>
        </p:txBody>
      </p:sp>
      <p:sp>
        <p:nvSpPr>
          <p:cNvPr id="3" name="08 / 10">
            <a:extLst xmlns:a="http://schemas.openxmlformats.org/drawingml/2006/main">
              <a:ext uri="{FF2B5EF4-FFF2-40B4-BE49-F238E27FC236}">
                <a16:creationId xmlns:a16="http://schemas.microsoft.com/office/drawing/2014/main" id="{8F41FDEE-F170-41C1-A5AD-C168B325E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6457950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6766A"/>
                </a:solidFill>
                <a:latin typeface="Lato"/>
                <a:ea typeface="Lato"/>
                <a:cs typeface="Lato"/>
              </a:defRPr>
            </a:pPr>
            <a:r>
              <a:rPr sz="975" b="0">
                <a:solidFill>
                  <a:srgbClr val="66766A"/>
                </a:solidFill>
                <a:latin typeface="Lato"/>
                <a:ea typeface="Lato"/>
                <a:cs typeface="Lato"/>
              </a:rPr>
              <a:t>08 / 10</a:t>
            </a:r>
          </a:p>
        </p:txBody>
      </p:sp>
      <p:sp>
        <p:nvSpPr>
          <p:cNvPr id="4" name="Każda informacja&#10;ma źródło i status">
            <a:extLst xmlns:a="http://schemas.openxmlformats.org/drawingml/2006/main">
              <a:ext uri="{FF2B5EF4-FFF2-40B4-BE49-F238E27FC236}">
                <a16:creationId xmlns:a16="http://schemas.microsoft.com/office/drawing/2014/main" id="{B01F8DE4-605E-4B5B-B4C4-5A9805985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75628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825" b="1">
                <a:solidFill>
                  <a:srgbClr val="182B23"/>
                </a:solidFill>
                <a:latin typeface="Lato"/>
                <a:ea typeface="Lato"/>
                <a:cs typeface="Lato"/>
              </a:defRPr>
            </a:pPr>
            <a:r>
              <a:rPr sz="3825" b="1">
                <a:solidFill>
                  <a:srgbClr val="182B23"/>
                </a:solidFill>
                <a:latin typeface="Lato"/>
                <a:ea typeface="Lato"/>
                <a:cs typeface="Lato"/>
              </a:rPr>
              <a:t>Każda informacja</a:t>
            </a:r>
          </a:p>
          <a:p xmlns:a="http://schemas.openxmlformats.org/drawingml/2006/main">
            <a:pPr>
              <a:defRPr sz="3825" b="1">
                <a:solidFill>
                  <a:srgbClr val="182B23"/>
                </a:solidFill>
                <a:latin typeface="Lato"/>
                <a:ea typeface="Lato"/>
                <a:cs typeface="Lato"/>
              </a:defRPr>
            </a:pPr>
            <a:r>
              <a:rPr sz="3825" b="1">
                <a:solidFill>
                  <a:srgbClr val="182B23"/>
                </a:solidFill>
                <a:latin typeface="Lato"/>
                <a:ea typeface="Lato"/>
                <a:cs typeface="Lato"/>
              </a:rPr>
              <a:t>ma źródło i status</a:t>
            </a:r>
          </a:p>
        </p:txBody>
      </p:sp>
      <p:sp>
        <p:nvSpPr>
          <p:cNvPr id="5" name="React Native + Expo">
            <a:extLst xmlns:a="http://schemas.openxmlformats.org/drawingml/2006/main">
              <a:ext uri="{FF2B5EF4-FFF2-40B4-BE49-F238E27FC236}">
                <a16:creationId xmlns:a16="http://schemas.microsoft.com/office/drawing/2014/main" id="{3AAECCEF-9EF0-4A0D-83E9-BFF017712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71342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B23"/>
                </a:solidFill>
                <a:latin typeface="Lato"/>
                <a:ea typeface="Lato"/>
                <a:cs typeface="Lato"/>
              </a:defRPr>
            </a:pPr>
            <a:r>
              <a:rPr sz="1950" b="1">
                <a:solidFill>
                  <a:srgbClr val="182B23"/>
                </a:solidFill>
                <a:latin typeface="Lato"/>
                <a:ea typeface="Lato"/>
                <a:cs typeface="Lato"/>
              </a:rPr>
              <a:t>React Native + Expo</a:t>
            </a:r>
          </a:p>
        </p:txBody>
      </p:sp>
      <p:sp>
        <p:nvSpPr>
          <p:cNvPr id="6" name="Wspólna aplikacja mobilna i webowa.">
            <a:extLst xmlns:a="http://schemas.openxmlformats.org/drawingml/2006/main">
              <a:ext uri="{FF2B5EF4-FFF2-40B4-BE49-F238E27FC236}">
                <a16:creationId xmlns:a16="http://schemas.microsoft.com/office/drawing/2014/main" id="{6C5967AF-6588-42FA-9EE3-A7619B3DE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28975"/>
            <a:ext cx="71247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6766A"/>
                </a:solidFill>
                <a:latin typeface="Lato"/>
                <a:ea typeface="Lato"/>
                <a:cs typeface="Lato"/>
              </a:defRPr>
            </a:pPr>
            <a:r>
              <a:rPr sz="1725" b="0">
                <a:solidFill>
                  <a:srgbClr val="66766A"/>
                </a:solidFill>
                <a:latin typeface="Lato"/>
                <a:ea typeface="Lato"/>
                <a:cs typeface="Lato"/>
              </a:rPr>
              <a:t>Wspólna aplikacja mobilna i webowa.</a:t>
            </a:r>
          </a:p>
        </p:txBody>
      </p:sp>
      <p:sp>
        <p:nvSpPr>
          <p:cNvPr id="7" name="A* + PostgreSQL / PostGIS">
            <a:extLst xmlns:a="http://schemas.openxmlformats.org/drawingml/2006/main">
              <a:ext uri="{FF2B5EF4-FFF2-40B4-BE49-F238E27FC236}">
                <a16:creationId xmlns:a16="http://schemas.microsoft.com/office/drawing/2014/main" id="{6F4E7E70-47A1-4344-8AD6-9F1E444E4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71342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B23"/>
                </a:solidFill>
                <a:latin typeface="Lato"/>
                <a:ea typeface="Lato"/>
                <a:cs typeface="Lato"/>
              </a:defRPr>
            </a:pPr>
            <a:r>
              <a:rPr sz="1950" b="1">
                <a:solidFill>
                  <a:srgbClr val="182B23"/>
                </a:solidFill>
                <a:latin typeface="Lato"/>
                <a:ea typeface="Lato"/>
                <a:cs typeface="Lato"/>
              </a:rPr>
              <a:t>A* + PostgreSQL / PostGIS</a:t>
            </a:r>
          </a:p>
        </p:txBody>
      </p:sp>
      <p:sp>
        <p:nvSpPr>
          <p:cNvPr id="8" name="Routing na lokalnym grafie OSM Krakowa.">
            <a:extLst xmlns:a="http://schemas.openxmlformats.org/drawingml/2006/main">
              <a:ext uri="{FF2B5EF4-FFF2-40B4-BE49-F238E27FC236}">
                <a16:creationId xmlns:a16="http://schemas.microsoft.com/office/drawing/2014/main" id="{F3370696-3D1B-4FFD-975C-BC3099F94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71247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6766A"/>
                </a:solidFill>
                <a:latin typeface="Lato"/>
                <a:ea typeface="Lato"/>
                <a:cs typeface="Lato"/>
              </a:defRPr>
            </a:pPr>
            <a:r>
              <a:rPr sz="1725" b="0">
                <a:solidFill>
                  <a:srgbClr val="66766A"/>
                </a:solidFill>
                <a:latin typeface="Lato"/>
                <a:ea typeface="Lato"/>
                <a:cs typeface="Lato"/>
              </a:rPr>
              <a:t>Routing na lokalnym grafie OSM Krakowa.</a:t>
            </a:r>
          </a:p>
        </p:txBody>
      </p:sp>
      <p:sp>
        <p:nvSpPr>
          <p:cNvPr id="9" name="MCP + NFZ + zgłoszenia">
            <a:extLst xmlns:a="http://schemas.openxmlformats.org/drawingml/2006/main">
              <a:ext uri="{FF2B5EF4-FFF2-40B4-BE49-F238E27FC236}">
                <a16:creationId xmlns:a16="http://schemas.microsoft.com/office/drawing/2014/main" id="{02C3B188-0F3D-4D92-BFB3-23982E339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91025"/>
            <a:ext cx="71342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B23"/>
                </a:solidFill>
                <a:latin typeface="Lato"/>
                <a:ea typeface="Lato"/>
                <a:cs typeface="Lato"/>
              </a:defRPr>
            </a:pPr>
            <a:r>
              <a:rPr sz="1950" b="1">
                <a:solidFill>
                  <a:srgbClr val="182B23"/>
                </a:solidFill>
                <a:latin typeface="Lato"/>
                <a:ea typeface="Lato"/>
                <a:cs typeface="Lato"/>
              </a:rPr>
              <a:t>MCP + NFZ + zgłoszenia</a:t>
            </a:r>
          </a:p>
        </p:txBody>
      </p:sp>
      <p:sp>
        <p:nvSpPr>
          <p:cNvPr id="10" name="Dane publiczne i oddzielna warstwa barier.">
            <a:extLst xmlns:a="http://schemas.openxmlformats.org/drawingml/2006/main">
              <a:ext uri="{FF2B5EF4-FFF2-40B4-BE49-F238E27FC236}">
                <a16:creationId xmlns:a16="http://schemas.microsoft.com/office/drawing/2014/main" id="{2E188281-E631-445D-BDAA-8CC59195E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72025"/>
            <a:ext cx="71247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6766A"/>
                </a:solidFill>
                <a:latin typeface="Lato"/>
                <a:ea typeface="Lato"/>
                <a:cs typeface="Lato"/>
              </a:defRPr>
            </a:pPr>
            <a:r>
              <a:rPr sz="1725" b="0">
                <a:solidFill>
                  <a:srgbClr val="66766A"/>
                </a:solidFill>
                <a:latin typeface="Lato"/>
                <a:ea typeface="Lato"/>
                <a:cs typeface="Lato"/>
              </a:rPr>
              <a:t>Dane publiczne i oddzielna warstwa barier.</a:t>
            </a:r>
          </a:p>
        </p:txBody>
      </p:sp>
      <p:sp>
        <p:nvSpPr>
          <p:cNvPr id="11" name="Źródło, daty, niepewność">
            <a:extLst xmlns:a="http://schemas.openxmlformats.org/drawingml/2006/main">
              <a:ext uri="{FF2B5EF4-FFF2-40B4-BE49-F238E27FC236}">
                <a16:creationId xmlns:a16="http://schemas.microsoft.com/office/drawing/2014/main" id="{28319DCA-7DE4-4874-961F-12D757B28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62550"/>
            <a:ext cx="71342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B23"/>
                </a:solidFill>
                <a:latin typeface="Lato"/>
                <a:ea typeface="Lato"/>
                <a:cs typeface="Lato"/>
              </a:defRPr>
            </a:pPr>
            <a:r>
              <a:rPr sz="1950" b="1">
                <a:solidFill>
                  <a:srgbClr val="182B23"/>
                </a:solidFill>
                <a:latin typeface="Lato"/>
                <a:ea typeface="Lato"/>
                <a:cs typeface="Lato"/>
              </a:rPr>
              <a:t>Źródło, daty, niepewność</a:t>
            </a:r>
          </a:p>
        </p:txBody>
      </p:sp>
      <p:sp>
        <p:nvSpPr>
          <p:cNvPr id="12" name="Informacja w źródle i kontrola w terenie to różne daty.">
            <a:extLst xmlns:a="http://schemas.openxmlformats.org/drawingml/2006/main">
              <a:ext uri="{FF2B5EF4-FFF2-40B4-BE49-F238E27FC236}">
                <a16:creationId xmlns:a16="http://schemas.microsoft.com/office/drawing/2014/main" id="{824730C6-F57E-4465-AD71-87324BD7C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71247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6766A"/>
                </a:solidFill>
                <a:latin typeface="Lato"/>
                <a:ea typeface="Lato"/>
                <a:cs typeface="Lato"/>
              </a:defRPr>
            </a:pPr>
            <a:r>
              <a:rPr sz="1725" b="0">
                <a:solidFill>
                  <a:srgbClr val="66766A"/>
                </a:solidFill>
                <a:latin typeface="Lato"/>
                <a:ea typeface="Lato"/>
                <a:cs typeface="Lato"/>
              </a:rPr>
              <a:t>Informacja w źródle i kontrola w terenie to różne daty.</a:t>
            </a:r>
          </a:p>
        </p:txBody>
      </p:sp>
      <p:sp>
        <p:nvSpPr>
          <p:cNvPr id="13" name="Brak danych pozostaje widoczny.&#10;Asystent nie nadaje formalne">
            <a:extLst xmlns:a="http://schemas.openxmlformats.org/drawingml/2006/main">
              <a:ext uri="{FF2B5EF4-FFF2-40B4-BE49-F238E27FC236}">
                <a16:creationId xmlns:a16="http://schemas.microsoft.com/office/drawing/2014/main" id="{9A442242-4FFC-42EC-ABF9-CF3EB9D65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716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15A43"/>
                </a:solidFill>
                <a:latin typeface="Lato"/>
                <a:ea typeface="Lato"/>
                <a:cs typeface="Lato"/>
              </a:defRPr>
            </a:pPr>
            <a:r>
              <a:rPr sz="1650" b="0">
                <a:solidFill>
                  <a:srgbClr val="315A43"/>
                </a:solidFill>
                <a:latin typeface="Lato"/>
                <a:ea typeface="Lato"/>
                <a:cs typeface="Lato"/>
              </a:rPr>
              <a:t>Brak danych pozostaje widoczny.</a:t>
            </a:r>
          </a:p>
          <a:p xmlns:a="http://schemas.openxmlformats.org/drawingml/2006/main">
            <a:pPr>
              <a:defRPr sz="1650" b="0">
                <a:solidFill>
                  <a:srgbClr val="315A43"/>
                </a:solidFill>
                <a:latin typeface="Lato"/>
                <a:ea typeface="Lato"/>
                <a:cs typeface="Lato"/>
              </a:defRPr>
            </a:pPr>
            <a:r>
              <a:rPr sz="1650" b="0">
                <a:solidFill>
                  <a:srgbClr val="315A43"/>
                </a:solidFill>
                <a:latin typeface="Lato"/>
                <a:ea typeface="Lato"/>
                <a:cs typeface="Lato"/>
              </a:rPr>
              <a:t>Asystent nie nadaje formalnego potwierdzenia dostępności.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9e61ee2c844537"/>
          <a:stretch xmlns:a="http://schemas.openxmlformats.org/drawingml/2006/main"/>
        </p:blipFill>
        <p:spPr>
          <a:xfrm xmlns:a="http://schemas.openxmlformats.org/drawingml/2006/main">
            <a:off x="8734507" y="876300"/>
            <a:ext cx="2504911" cy="5429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411446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pewnyszlak.">
            <a:extLst xmlns:a="http://schemas.openxmlformats.org/drawingml/2006/main">
              <a:ext uri="{FF2B5EF4-FFF2-40B4-BE49-F238E27FC236}">
                <a16:creationId xmlns:a16="http://schemas.microsoft.com/office/drawing/2014/main" id="{4A545491-1159-4F94-8FCA-3B8BDEE6D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315A43"/>
                </a:solidFill>
                <a:latin typeface="Lato"/>
                <a:ea typeface="Lato"/>
                <a:cs typeface="Lato"/>
              </a:defRPr>
            </a:pPr>
            <a:r>
              <a:rPr sz="1875" b="1">
                <a:solidFill>
                  <a:srgbClr val="315A43"/>
                </a:solidFill>
                <a:latin typeface="Lato"/>
                <a:ea typeface="Lato"/>
                <a:cs typeface="Lato"/>
              </a:rPr>
              <a:t>pewnyszlak.</a:t>
            </a:r>
          </a:p>
        </p:txBody>
      </p:sp>
      <p:sp>
        <p:nvSpPr>
          <p:cNvPr id="2" name="WDROŻENIE I MODEL BIZNESOWY">
            <a:extLst xmlns:a="http://schemas.openxmlformats.org/drawingml/2006/main">
              <a:ext uri="{FF2B5EF4-FFF2-40B4-BE49-F238E27FC236}">
                <a16:creationId xmlns:a16="http://schemas.microsoft.com/office/drawing/2014/main" id="{E0E43610-1522-4313-AD81-06C06F2A2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1075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6766A"/>
                </a:solidFill>
                <a:latin typeface="Lato"/>
                <a:ea typeface="Lato"/>
                <a:cs typeface="Lato"/>
              </a:defRPr>
            </a:pPr>
            <a:r>
              <a:rPr sz="1200" b="1">
                <a:solidFill>
                  <a:srgbClr val="66766A"/>
                </a:solidFill>
                <a:latin typeface="Lato"/>
                <a:ea typeface="Lato"/>
                <a:cs typeface="Lato"/>
              </a:rPr>
              <a:t>WDROŻENIE I MODEL BIZNESOWY</a:t>
            </a:r>
          </a:p>
        </p:txBody>
      </p:sp>
      <p:sp>
        <p:nvSpPr>
          <p:cNvPr id="3" name="09 / 10">
            <a:extLst xmlns:a="http://schemas.openxmlformats.org/drawingml/2006/main">
              <a:ext uri="{FF2B5EF4-FFF2-40B4-BE49-F238E27FC236}">
                <a16:creationId xmlns:a16="http://schemas.microsoft.com/office/drawing/2014/main" id="{CBB4776F-05FE-4F78-8EBC-A18C4E45C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6457950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6766A"/>
                </a:solidFill>
                <a:latin typeface="Lato"/>
                <a:ea typeface="Lato"/>
                <a:cs typeface="Lato"/>
              </a:defRPr>
            </a:pPr>
            <a:r>
              <a:rPr sz="975" b="0">
                <a:solidFill>
                  <a:srgbClr val="66766A"/>
                </a:solidFill>
                <a:latin typeface="Lato"/>
                <a:ea typeface="Lato"/>
                <a:cs typeface="Lato"/>
              </a:rPr>
              <a:t>09 / 10</a:t>
            </a:r>
          </a:p>
        </p:txBody>
      </p:sp>
      <p:sp>
        <p:nvSpPr>
          <p:cNvPr id="4" name="Pilotaż w Krakowie,&#10;potem kolejne miasta">
            <a:extLst xmlns:a="http://schemas.openxmlformats.org/drawingml/2006/main">
              <a:ext uri="{FF2B5EF4-FFF2-40B4-BE49-F238E27FC236}">
                <a16:creationId xmlns:a16="http://schemas.microsoft.com/office/drawing/2014/main" id="{1DE1BF91-F2CE-4667-9B38-3478E4245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47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825" b="1">
                <a:solidFill>
                  <a:srgbClr val="182B23"/>
                </a:solidFill>
                <a:latin typeface="Lato"/>
                <a:ea typeface="Lato"/>
                <a:cs typeface="Lato"/>
              </a:defRPr>
            </a:pPr>
            <a:r>
              <a:rPr sz="3825" b="1">
                <a:solidFill>
                  <a:srgbClr val="182B23"/>
                </a:solidFill>
                <a:latin typeface="Lato"/>
                <a:ea typeface="Lato"/>
                <a:cs typeface="Lato"/>
              </a:rPr>
              <a:t>Pilotaż w Krakowie,</a:t>
            </a:r>
          </a:p>
          <a:p xmlns:a="http://schemas.openxmlformats.org/drawingml/2006/main">
            <a:pPr>
              <a:defRPr sz="3825" b="1">
                <a:solidFill>
                  <a:srgbClr val="182B23"/>
                </a:solidFill>
                <a:latin typeface="Lato"/>
                <a:ea typeface="Lato"/>
                <a:cs typeface="Lato"/>
              </a:defRPr>
            </a:pPr>
            <a:r>
              <a:rPr sz="3825" b="1">
                <a:solidFill>
                  <a:srgbClr val="182B23"/>
                </a:solidFill>
                <a:latin typeface="Lato"/>
                <a:ea typeface="Lato"/>
                <a:cs typeface="Lato"/>
              </a:rPr>
              <a:t>potem kolejne miasta</a:t>
            </a:r>
          </a:p>
        </p:txBody>
      </p:sp>
      <p:sp>
        <p:nvSpPr>
          <p:cNvPr id="5" name="DLA UŻYTKOWNIKA">
            <a:extLst xmlns:a="http://schemas.openxmlformats.org/drawingml/2006/main">
              <a:ext uri="{FF2B5EF4-FFF2-40B4-BE49-F238E27FC236}">
                <a16:creationId xmlns:a16="http://schemas.microsoft.com/office/drawing/2014/main" id="{4A437F84-3EBF-4495-A5CA-BCFD2DCCB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6766A"/>
                </a:solidFill>
                <a:latin typeface="Lato"/>
                <a:ea typeface="Lato"/>
                <a:cs typeface="Lato"/>
              </a:defRPr>
            </a:pPr>
            <a:r>
              <a:rPr sz="1200" b="1">
                <a:solidFill>
                  <a:srgbClr val="66766A"/>
                </a:solidFill>
                <a:latin typeface="Lato"/>
                <a:ea typeface="Lato"/>
                <a:cs typeface="Lato"/>
              </a:rPr>
              <a:t>DLA UŻYTKOWNIKA</a:t>
            </a:r>
          </a:p>
        </p:txBody>
      </p:sp>
      <p:sp>
        <p:nvSpPr>
          <p:cNvPr id="6" name="Bezpłatne planowanie trasy&#10;i dostęp do informacji o barierac">
            <a:extLst xmlns:a="http://schemas.openxmlformats.org/drawingml/2006/main">
              <a:ext uri="{FF2B5EF4-FFF2-40B4-BE49-F238E27FC236}">
                <a16:creationId xmlns:a16="http://schemas.microsoft.com/office/drawing/2014/main" id="{BA511A0C-C3C1-4C86-9F9D-AD1B18DDF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5257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15A4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315A43"/>
                </a:solidFill>
                <a:latin typeface="Lato"/>
                <a:ea typeface="Lato"/>
                <a:cs typeface="Lato"/>
              </a:rPr>
              <a:t>Bezpłatne planowanie trasy</a:t>
            </a:r>
          </a:p>
          <a:p xmlns:a="http://schemas.openxmlformats.org/drawingml/2006/main">
            <a:pPr>
              <a:defRPr sz="2175" b="0">
                <a:solidFill>
                  <a:srgbClr val="315A4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315A43"/>
                </a:solidFill>
                <a:latin typeface="Lato"/>
                <a:ea typeface="Lato"/>
                <a:cs typeface="Lato"/>
              </a:rPr>
              <a:t>i dostęp do informacji o barierach.</a:t>
            </a:r>
          </a:p>
        </p:txBody>
      </p:sp>
      <p:sp>
        <p:nvSpPr>
          <p:cNvPr id="7" name="DLA PARTNERÓW">
            <a:extLst xmlns:a="http://schemas.openxmlformats.org/drawingml/2006/main">
              <a:ext uri="{FF2B5EF4-FFF2-40B4-BE49-F238E27FC236}">
                <a16:creationId xmlns:a16="http://schemas.microsoft.com/office/drawing/2014/main" id="{F599CFBA-7325-4AA1-A8EF-B4B325661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3000375"/>
            <a:ext cx="4867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6766A"/>
                </a:solidFill>
                <a:latin typeface="Lato"/>
                <a:ea typeface="Lato"/>
                <a:cs typeface="Lato"/>
              </a:defRPr>
            </a:pPr>
            <a:r>
              <a:rPr sz="1200" b="1">
                <a:solidFill>
                  <a:srgbClr val="66766A"/>
                </a:solidFill>
                <a:latin typeface="Lato"/>
                <a:ea typeface="Lato"/>
                <a:cs typeface="Lato"/>
              </a:rPr>
              <a:t>DLA PARTNERÓW</a:t>
            </a:r>
          </a:p>
        </p:txBody>
      </p:sp>
      <p:sp>
        <p:nvSpPr>
          <p:cNvPr id="8" name="Widget dla hotelu lub wydarzenia.&#10;Płatne API tras i panel ak">
            <a:extLst xmlns:a="http://schemas.openxmlformats.org/drawingml/2006/main">
              <a:ext uri="{FF2B5EF4-FFF2-40B4-BE49-F238E27FC236}">
                <a16:creationId xmlns:a16="http://schemas.microsoft.com/office/drawing/2014/main" id="{22C87DA2-C954-468B-BC7B-57FCACA03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3448050"/>
            <a:ext cx="4857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15A4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315A43"/>
                </a:solidFill>
                <a:latin typeface="Lato"/>
                <a:ea typeface="Lato"/>
                <a:cs typeface="Lato"/>
              </a:rPr>
              <a:t>Widget dla hotelu lub wydarzenia.</a:t>
            </a:r>
          </a:p>
          <a:p xmlns:a="http://schemas.openxmlformats.org/drawingml/2006/main">
            <a:pPr>
              <a:defRPr sz="2175" b="0">
                <a:solidFill>
                  <a:srgbClr val="315A4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315A43"/>
                </a:solidFill>
                <a:latin typeface="Lato"/>
                <a:ea typeface="Lato"/>
                <a:cs typeface="Lato"/>
              </a:rPr>
              <a:t>Płatne API tras i panel aktualizacji.</a:t>
            </a:r>
          </a:p>
        </p:txBody>
      </p:sp>
      <p:sp>
        <p:nvSpPr>
          <p:cNvPr id="9" name="Najbliższy krok">
            <a:extLst xmlns:a="http://schemas.openxmlformats.org/drawingml/2006/main">
              <a:ext uri="{FF2B5EF4-FFF2-40B4-BE49-F238E27FC236}">
                <a16:creationId xmlns:a16="http://schemas.microsoft.com/office/drawing/2014/main" id="{8DE24D43-B943-4BCD-99BE-3906A8804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54578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2B23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182B23"/>
                </a:solidFill>
                <a:latin typeface="Lato"/>
                <a:ea typeface="Lato"/>
                <a:cs typeface="Lato"/>
              </a:rPr>
              <a:t>Najbliższy krok</a:t>
            </a:r>
          </a:p>
        </p:txBody>
      </p:sp>
      <p:sp>
        <p:nvSpPr>
          <p:cNvPr id="10" name="Testy terenowe z osobami na wózkach.&#10;Porównanie danych z rze">
            <a:extLst xmlns:a="http://schemas.openxmlformats.org/drawingml/2006/main">
              <a:ext uri="{FF2B5EF4-FFF2-40B4-BE49-F238E27FC236}">
                <a16:creationId xmlns:a16="http://schemas.microsoft.com/office/drawing/2014/main" id="{C7215B8D-F295-46FA-929A-E1BE1496E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67325"/>
            <a:ext cx="54102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6766A"/>
                </a:solidFill>
                <a:latin typeface="Lato"/>
                <a:ea typeface="Lato"/>
                <a:cs typeface="Lato"/>
              </a:defRPr>
            </a:pPr>
            <a:r>
              <a:rPr sz="1800" b="0">
                <a:solidFill>
                  <a:srgbClr val="66766A"/>
                </a:solidFill>
                <a:latin typeface="Lato"/>
                <a:ea typeface="Lato"/>
                <a:cs typeface="Lato"/>
              </a:rPr>
              <a:t>Testy terenowe z osobami na wózkach.</a:t>
            </a:r>
          </a:p>
          <a:p xmlns:a="http://schemas.openxmlformats.org/drawingml/2006/main">
            <a:pPr>
              <a:defRPr sz="1800" b="0">
                <a:solidFill>
                  <a:srgbClr val="66766A"/>
                </a:solidFill>
                <a:latin typeface="Lato"/>
                <a:ea typeface="Lato"/>
                <a:cs typeface="Lato"/>
              </a:defRPr>
            </a:pPr>
            <a:r>
              <a:rPr sz="1800" b="0">
                <a:solidFill>
                  <a:srgbClr val="66766A"/>
                </a:solidFill>
                <a:latin typeface="Lato"/>
                <a:ea typeface="Lato"/>
                <a:cs typeface="Lato"/>
              </a:rPr>
              <a:t>Porównanie danych z rzeczywistym dojściem.</a:t>
            </a:r>
          </a:p>
        </p:txBody>
      </p:sp>
      <p:sp>
        <p:nvSpPr>
          <p:cNvPr id="11" name="Rozwój po hackathonie">
            <a:extLst xmlns:a="http://schemas.openxmlformats.org/drawingml/2006/main">
              <a:ext uri="{FF2B5EF4-FFF2-40B4-BE49-F238E27FC236}">
                <a16:creationId xmlns:a16="http://schemas.microsoft.com/office/drawing/2014/main" id="{91118D30-E1D3-41C1-8F4D-993374994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4800600"/>
            <a:ext cx="48863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2B23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182B23"/>
                </a:solidFill>
                <a:latin typeface="Lato"/>
                <a:ea typeface="Lato"/>
                <a:cs typeface="Lato"/>
              </a:rPr>
              <a:t>Rozwój po hackathonie</a:t>
            </a:r>
          </a:p>
        </p:txBody>
      </p:sp>
      <p:sp>
        <p:nvSpPr>
          <p:cNvPr id="12" name="Walidacja SAR i LiDAR, kolejne obszary.&#10;Pilotaż z partnerem ">
            <a:extLst xmlns:a="http://schemas.openxmlformats.org/drawingml/2006/main">
              <a:ext uri="{FF2B5EF4-FFF2-40B4-BE49-F238E27FC236}">
                <a16:creationId xmlns:a16="http://schemas.microsoft.com/office/drawing/2014/main" id="{8D31B7E7-EA5B-4930-AFB0-0C515352F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5267325"/>
            <a:ext cx="48482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6766A"/>
                </a:solidFill>
                <a:latin typeface="Lato"/>
                <a:ea typeface="Lato"/>
                <a:cs typeface="Lato"/>
              </a:defRPr>
            </a:pPr>
            <a:r>
              <a:rPr sz="1800" b="0">
                <a:solidFill>
                  <a:srgbClr val="66766A"/>
                </a:solidFill>
                <a:latin typeface="Lato"/>
                <a:ea typeface="Lato"/>
                <a:cs typeface="Lato"/>
              </a:rPr>
              <a:t>Walidacja SAR i LiDAR, kolejne obszary.</a:t>
            </a:r>
          </a:p>
          <a:p xmlns:a="http://schemas.openxmlformats.org/drawingml/2006/main">
            <a:pPr>
              <a:defRPr sz="1800" b="0">
                <a:solidFill>
                  <a:srgbClr val="66766A"/>
                </a:solidFill>
                <a:latin typeface="Lato"/>
                <a:ea typeface="Lato"/>
                <a:cs typeface="Lato"/>
              </a:defRPr>
            </a:pPr>
            <a:r>
              <a:rPr sz="1800" b="0">
                <a:solidFill>
                  <a:srgbClr val="66766A"/>
                </a:solidFill>
                <a:latin typeface="Lato"/>
                <a:ea typeface="Lato"/>
                <a:cs typeface="Lato"/>
              </a:rPr>
              <a:t>Pilotaż z partnerem i test gotowości do płacenia.</a:t>
            </a:r>
          </a:p>
        </p:txBody>
      </p:sp>
    </p:spTree>
    <p:extLst>
      <p:ext uri="{BB962C8B-B14F-4D97-AF65-F5344CB8AC3E}">
        <p14:creationId xmlns:p14="http://schemas.microsoft.com/office/powerpoint/2010/main" val="53160817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82B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ewnyszlak.">
            <a:extLst xmlns:a="http://schemas.openxmlformats.org/drawingml/2006/main">
              <a:ext uri="{FF2B5EF4-FFF2-40B4-BE49-F238E27FC236}">
                <a16:creationId xmlns:a16="http://schemas.microsoft.com/office/drawing/2014/main" id="{A67DEF0F-E531-4F1B-9F85-7EF4CF795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D1F28E"/>
                </a:solidFill>
                <a:latin typeface="Lato"/>
                <a:ea typeface="Lato"/>
                <a:cs typeface="Lato"/>
              </a:defRPr>
            </a:pPr>
            <a:r>
              <a:rPr sz="1875" b="1">
                <a:solidFill>
                  <a:srgbClr val="D1F28E"/>
                </a:solidFill>
                <a:latin typeface="Lato"/>
                <a:ea typeface="Lato"/>
                <a:cs typeface="Lato"/>
              </a:rPr>
              <a:t>pewnyszlak.</a:t>
            </a:r>
          </a:p>
        </p:txBody>
      </p:sp>
      <p:sp>
        <p:nvSpPr>
          <p:cNvPr id="2" name="PROTOTYP GOTOWY DO POKAZANIA">
            <a:extLst xmlns:a="http://schemas.openxmlformats.org/drawingml/2006/main">
              <a:ext uri="{FF2B5EF4-FFF2-40B4-BE49-F238E27FC236}">
                <a16:creationId xmlns:a16="http://schemas.microsoft.com/office/drawing/2014/main" id="{ADEF03D6-0488-4699-AB38-401EF7AAD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1075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6C5B4"/>
                </a:solidFill>
                <a:latin typeface="Lato"/>
                <a:ea typeface="Lato"/>
                <a:cs typeface="Lato"/>
              </a:defRPr>
            </a:pPr>
            <a:r>
              <a:rPr sz="1200" b="1">
                <a:solidFill>
                  <a:srgbClr val="B6C5B4"/>
                </a:solidFill>
                <a:latin typeface="Lato"/>
                <a:ea typeface="Lato"/>
                <a:cs typeface="Lato"/>
              </a:rPr>
              <a:t>PROTOTYP GOTOWY DO POKAZANIA</a:t>
            </a:r>
          </a:p>
        </p:txBody>
      </p:sp>
      <p:sp>
        <p:nvSpPr>
          <p:cNvPr id="3" name="10 / 10">
            <a:extLst xmlns:a="http://schemas.openxmlformats.org/drawingml/2006/main">
              <a:ext uri="{FF2B5EF4-FFF2-40B4-BE49-F238E27FC236}">
                <a16:creationId xmlns:a16="http://schemas.microsoft.com/office/drawing/2014/main" id="{B4457081-8444-4755-9665-F8952A6F0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6457950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B6C5B4"/>
                </a:solidFill>
                <a:latin typeface="Lato"/>
                <a:ea typeface="Lato"/>
                <a:cs typeface="Lato"/>
              </a:defRPr>
            </a:pPr>
            <a:r>
              <a:rPr sz="975" b="0">
                <a:solidFill>
                  <a:srgbClr val="B6C5B4"/>
                </a:solidFill>
                <a:latin typeface="Lato"/>
                <a:ea typeface="Lato"/>
                <a:cs typeface="Lato"/>
              </a:rPr>
              <a:t>10 / 10</a:t>
            </a:r>
          </a:p>
        </p:txBody>
      </p:sp>
      <p:sp>
        <p:nvSpPr>
          <p:cNvPr id="4" name="Sprawdź drogę,&#10;zanim ruszysz">
            <a:extLst xmlns:a="http://schemas.openxmlformats.org/drawingml/2006/main">
              <a:ext uri="{FF2B5EF4-FFF2-40B4-BE49-F238E27FC236}">
                <a16:creationId xmlns:a16="http://schemas.microsoft.com/office/drawing/2014/main" id="{EFB93E35-8DAB-4B77-BD17-889007735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6953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825" b="1">
                <a:solidFill>
                  <a:srgbClr val="F6F5EE"/>
                </a:solidFill>
                <a:latin typeface="Lato"/>
                <a:ea typeface="Lato"/>
                <a:cs typeface="Lato"/>
              </a:defRPr>
            </a:pPr>
            <a:r>
              <a:rPr sz="3825" b="1">
                <a:solidFill>
                  <a:srgbClr val="F6F5EE"/>
                </a:solidFill>
                <a:latin typeface="Lato"/>
                <a:ea typeface="Lato"/>
                <a:cs typeface="Lato"/>
              </a:rPr>
              <a:t>Sprawdź drogę,</a:t>
            </a:r>
          </a:p>
          <a:p xmlns:a="http://schemas.openxmlformats.org/drawingml/2006/main">
            <a:pPr>
              <a:defRPr sz="3825" b="1">
                <a:solidFill>
                  <a:srgbClr val="F6F5EE"/>
                </a:solidFill>
                <a:latin typeface="Lato"/>
                <a:ea typeface="Lato"/>
                <a:cs typeface="Lato"/>
              </a:defRPr>
            </a:pPr>
            <a:r>
              <a:rPr sz="3825" b="1">
                <a:solidFill>
                  <a:srgbClr val="F6F5EE"/>
                </a:solidFill>
                <a:latin typeface="Lato"/>
                <a:ea typeface="Lato"/>
                <a:cs typeface="Lato"/>
              </a:rPr>
              <a:t>zanim ruszysz</a:t>
            </a:r>
          </a:p>
        </p:txBody>
      </p:sp>
      <p:sp>
        <p:nvSpPr>
          <p:cNvPr id="5" name="344 284">
            <a:extLst xmlns:a="http://schemas.openxmlformats.org/drawingml/2006/main">
              <a:ext uri="{FF2B5EF4-FFF2-40B4-BE49-F238E27FC236}">
                <a16:creationId xmlns:a16="http://schemas.microsoft.com/office/drawing/2014/main" id="{9DB82A8F-6358-4FA1-9210-805B45279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52775"/>
            <a:ext cx="685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6000" b="1">
                <a:solidFill>
                  <a:srgbClr val="D1F28E"/>
                </a:solidFill>
                <a:latin typeface="Lato"/>
                <a:ea typeface="Lato"/>
                <a:cs typeface="Lato"/>
              </a:defRPr>
            </a:pPr>
            <a:r>
              <a:rPr sz="6000" b="1">
                <a:solidFill>
                  <a:srgbClr val="D1F28E"/>
                </a:solidFill>
                <a:latin typeface="Lato"/>
                <a:ea typeface="Lato"/>
                <a:cs typeface="Lato"/>
              </a:rPr>
              <a:t>344 284</a:t>
            </a:r>
          </a:p>
        </p:txBody>
      </p:sp>
      <p:sp>
        <p:nvSpPr>
          <p:cNvPr id="6" name="krawędzie zaimportowanego grafu OSM Krakowa">
            <a:extLst xmlns:a="http://schemas.openxmlformats.org/drawingml/2006/main">
              <a:ext uri="{FF2B5EF4-FFF2-40B4-BE49-F238E27FC236}">
                <a16:creationId xmlns:a16="http://schemas.microsoft.com/office/drawing/2014/main" id="{4B6A6B51-002E-4A07-991B-E7E5FB8C5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33850"/>
            <a:ext cx="6991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B6C5B4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B6C5B4"/>
                </a:solidFill>
                <a:latin typeface="Lato"/>
                <a:ea typeface="Lato"/>
                <a:cs typeface="Lato"/>
              </a:rPr>
              <a:t>krawędzie zaimportowanego grafu OSM Krakowa</a:t>
            </a:r>
          </a:p>
        </p:txBody>
      </p:sp>
      <p:sp>
        <p:nvSpPr>
          <p:cNvPr id="7" name="W demo: preferencje wózka, trasa Rynek – Wawel,&#10;źródła danyc">
            <a:extLst xmlns:a="http://schemas.openxmlformats.org/drawingml/2006/main">
              <a:ext uri="{FF2B5EF4-FFF2-40B4-BE49-F238E27FC236}">
                <a16:creationId xmlns:a16="http://schemas.microsoft.com/office/drawing/2014/main" id="{A150A02C-1078-4EA7-AB0A-59EC7654A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86350"/>
            <a:ext cx="6972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6F5EE"/>
                </a:solidFill>
                <a:latin typeface="Lato"/>
                <a:ea typeface="Lato"/>
                <a:cs typeface="Lato"/>
              </a:defRPr>
            </a:pPr>
            <a:r>
              <a:rPr sz="2025" b="0">
                <a:solidFill>
                  <a:srgbClr val="F6F5EE"/>
                </a:solidFill>
                <a:latin typeface="Lato"/>
                <a:ea typeface="Lato"/>
                <a:cs typeface="Lato"/>
              </a:rPr>
              <a:t>W demo: preferencje wózka, trasa Rynek – Wawel,</a:t>
            </a:r>
          </a:p>
          <a:p xmlns:a="http://schemas.openxmlformats.org/drawingml/2006/main">
            <a:pPr>
              <a:defRPr sz="2025" b="0">
                <a:solidFill>
                  <a:srgbClr val="F6F5EE"/>
                </a:solidFill>
                <a:latin typeface="Lato"/>
                <a:ea typeface="Lato"/>
                <a:cs typeface="Lato"/>
              </a:defRPr>
            </a:pPr>
            <a:r>
              <a:rPr sz="2025" b="0">
                <a:solidFill>
                  <a:srgbClr val="F6F5EE"/>
                </a:solidFill>
                <a:latin typeface="Lato"/>
                <a:ea typeface="Lato"/>
                <a:cs typeface="Lato"/>
              </a:rPr>
              <a:t>źródła danych i prowadzenie krok po kroku.</a:t>
            </a:r>
          </a:p>
        </p:txBody>
      </p:sp>
      <p:sp>
        <p:nvSpPr>
          <p:cNvPr id="8" name="pewnyszlak.">
            <a:extLst xmlns:a="http://schemas.openxmlformats.org/drawingml/2006/main">
              <a:ext uri="{FF2B5EF4-FFF2-40B4-BE49-F238E27FC236}">
                <a16:creationId xmlns:a16="http://schemas.microsoft.com/office/drawing/2014/main" id="{9A463D36-3570-4386-A750-949AC243F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38850"/>
            <a:ext cx="63436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D1F28E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D1F28E"/>
                </a:solidFill>
                <a:latin typeface="Lato"/>
                <a:ea typeface="Lato"/>
                <a:cs typeface="Lato"/>
              </a:rPr>
              <a:t>pewnyszlak.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0316e9cfc8481b"/>
          <a:stretch xmlns:a="http://schemas.openxmlformats.org/drawingml/2006/main"/>
        </p:blipFill>
        <p:spPr>
          <a:xfrm xmlns:a="http://schemas.openxmlformats.org/drawingml/2006/main">
            <a:off x="8743950" y="850715"/>
            <a:ext cx="2524125" cy="547089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2642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2026-10-04T03:32:16.8180000Z</dcterms:created>
  <dcterms:modified xsi:type="dcterms:W3CDTF">2026-10-04T03:32:16.8180000Z</dcterms:modified>
</coreProperties>
</file>